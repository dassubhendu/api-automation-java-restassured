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272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JAVA FOR TEST AUTOMATION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basics to the Collections Framework — with examples for GUI (Selenium) &amp; API (REST Assured) testing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2011680" cy="0"/>
          </a:xfrm>
          <a:prstGeom prst="line">
            <a:avLst/>
          </a:prstGeom>
          <a:noFill/>
          <a:ln w="38100">
            <a:solidFill>
              <a:srgbClr val="6F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Basics  •  OOP  •  Exceptions  •  Collections  •  Java 8 Streams  •  Selenium  •  REST Assured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225296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Roadmap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sections — each concept is paired with an automation example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DD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0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Fundamentals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5760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/ JRE / JVM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&amp; control flow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arrays, strings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192024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97180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880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Programming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365760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&amp; keywords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192024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DD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25780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880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 &amp; Utilities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65760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hierarchy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classes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properties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0" y="192024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54380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880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Framework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365760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Set, Map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Comparator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01200" y="192024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DD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82980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2880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8 &amp; Automation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829800" y="365760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API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in Java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in Java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Java for Test Automation?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 that covers UI, API, mobile and CI pipelines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47188" cy="2240280"/>
          </a:xfrm>
          <a:prstGeom prst="roundRect">
            <a:avLst>
              <a:gd name="adj" fmla="val 3265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Selenium &amp; Appium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697480"/>
            <a:ext cx="21899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Java bindings for browser (GUI) and mobile automation; most examples and docs are in Java.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2988" y="1874520"/>
            <a:ext cx="2647188" cy="2240280"/>
          </a:xfrm>
          <a:prstGeom prst="roundRect">
            <a:avLst>
              <a:gd name="adj" fmla="val 3265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61588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56158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155948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Assured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561588" y="2697480"/>
            <a:ext cx="21899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DSL for API testing with a readable given() / when() / then() syntax.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08776" y="1874520"/>
            <a:ext cx="2647188" cy="2240280"/>
          </a:xfrm>
          <a:prstGeom prst="roundRect">
            <a:avLst>
              <a:gd name="adj" fmla="val 3265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37376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373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31736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Ecosystem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37376" y="2697480"/>
            <a:ext cx="21899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TestNG, JUnit, Maven, Gradle, Cucumber, Extent Reports, Log4j — all built for Java.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84564" y="1874520"/>
            <a:ext cx="2647188" cy="2240280"/>
          </a:xfrm>
          <a:prstGeom prst="roundRect">
            <a:avLst>
              <a:gd name="adj" fmla="val 3265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13164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31316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907524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Demand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313164" y="2697480"/>
            <a:ext cx="21899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Selenium remains one of the most requested skill sets in QA automation roles.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automation toolchain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5074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57200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12264" y="5230368"/>
            <a:ext cx="224942" cy="237744"/>
          </a:xfrm>
          <a:prstGeom prst="right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392070" y="5074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2392070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/ REST Assured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047134" y="5230368"/>
            <a:ext cx="224942" cy="237744"/>
          </a:xfrm>
          <a:prstGeom prst="right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326941" y="5074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326941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82005" y="5230368"/>
            <a:ext cx="224942" cy="237744"/>
          </a:xfrm>
          <a:prstGeom prst="right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61811" y="5074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261811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916875" y="5230368"/>
            <a:ext cx="224942" cy="237744"/>
          </a:xfrm>
          <a:prstGeom prst="right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196682" y="5074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8196682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851746" y="5230368"/>
            <a:ext cx="224942" cy="237744"/>
          </a:xfrm>
          <a:prstGeom prst="right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131552" y="5074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10131552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778240" y="914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244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Fundamentals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every automation script is made of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69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/ JRE / JVM   •   Program structure   •   Variables &amp; data types   •   Operators   •   Control flow   •   Loops   •   Arrays   •   Strings   •   Methods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JDK vs JRE vs JVM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test code turns into something the machine can run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577840" cy="4389120"/>
          </a:xfrm>
          <a:prstGeom prst="roundRect">
            <a:avLst>
              <a:gd name="adj" fmla="val 2083"/>
            </a:avLst>
          </a:prstGeom>
          <a:solidFill>
            <a:srgbClr val="EEF4F7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19659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— Java Development Kit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JRE + tools: javac compiler, debugger, jar, javadoc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2788920"/>
            <a:ext cx="4937760" cy="3246120"/>
          </a:xfrm>
          <a:prstGeom prst="roundRect">
            <a:avLst>
              <a:gd name="adj" fmla="val 2817"/>
            </a:avLst>
          </a:prstGeom>
          <a:solidFill>
            <a:srgbClr val="DDEAF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2880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JRE — Java Runtime Environment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+ core libraries (java.lang, java.util, java.io …)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3749040"/>
            <a:ext cx="4297680" cy="2011680"/>
          </a:xfrm>
          <a:prstGeom prst="roundRect">
            <a:avLst>
              <a:gd name="adj" fmla="val 454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325880" y="388620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— Java Virtual Machine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and executes bytecode, manages memory and garbage collection. A different JVM exists for each OS.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240" y="1874520"/>
            <a:ext cx="52395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675120" y="18745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LoginTest.java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Source code you write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0" y="2569464"/>
            <a:ext cx="274320" cy="201168"/>
          </a:xfrm>
          <a:prstGeom prst="down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92240" y="2807208"/>
            <a:ext cx="52395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675120" y="280720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 LoginTest.java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Compiler (part of the JDK)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61120" y="3502152"/>
            <a:ext cx="274320" cy="201168"/>
          </a:xfrm>
          <a:prstGeom prst="down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3739896"/>
            <a:ext cx="52395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675120" y="373989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LoginTest.class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Platform-independent bytecode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61120" y="4434840"/>
            <a:ext cx="274320" cy="201168"/>
          </a:xfrm>
          <a:prstGeom prst="down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92240" y="4672584"/>
            <a:ext cx="5239512" cy="658368"/>
          </a:xfrm>
          <a:prstGeom prst="roundRect">
            <a:avLst>
              <a:gd name="adj" fmla="val 83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675120" y="467258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LoginTest</a:t>
            </a:r>
            <a:r>
              <a:rPr lang="en-US" sz="1200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JVM runs it on Windows, macOS, Linux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5669280"/>
            <a:ext cx="5239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</a:t>
            </a: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JDK 17+, set JAVA_HOME, verify with java -version, then install IntelliJ IDEA.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of a Java Program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Java file follows the same skeleton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classes into folders, e.g. com.training.tests.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blueprint; all code lives inside a class. The file name must match the public class name.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method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of a plain Java program: public static void main(String[] args).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&amp; blocks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end with ; and blocks are wrapped in { }. Java is case-sensitive.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single line, /* multi-line */ and /** Javadoc */.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com.training.basics;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com/training/basics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java.time.LocalDate;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from another package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Javadoc: my first Java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File name must be HelloAutomation.java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*/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HelloAutomation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Entry point: the JVM starts here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main(String[] args)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Automation!"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"Today is 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LocalDate.now());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Hello, Automation!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Today is 2026-09-27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primitive types store simple values; everything else is a non-primitive (reference) type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4552" cy="3657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 in automation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byte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 flag = 1;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file / stream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short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port = 8080;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numeric ranges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timeout = 30;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Waits, counts, status codes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start = System.currentTimeMillis();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Timestamps, response times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rating = 4.5f;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values (less precise)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double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price = 1999.99;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Prices, totals in cart checks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'\u0000'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 grade = 'A';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characters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bit*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isDisplayed = true;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visible? Test passed?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url = "https://reqres.in";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Non-primitive: URLs, locators, 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Type Casting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variable is declared decides who can see it and how long it lives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inside a method; must be initialized before use.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 an object; each object gets its own copy.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 shared by all objects of the class (e.g. a shared base URL).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final, named in UPPER_SNAKE_CASE; cannot be reassigned.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 (int → double) is automatic; narrowing (double → int) needs an explicit cast.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TestConfig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constant: shared and cannot change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BASE_URL = 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"https://reqres.in"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testCount = 0; 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static: one copy for all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browser = 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"chrome"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instance: one per object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run()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retries = 3;      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local: only inside run()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testCount++;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System.out.println(browser + 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run #"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testCount);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 casting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seconds = 10;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 = seconds;       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widening: 10.0 (automatic)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price = 99.78;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rounded = (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price;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narrowing: 99 (explicit cast)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 =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java.util.ArrayList&lt;String&gt;();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10+ var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Calculate, compare and combine conditions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-  *  /  %  (modulus gives the remainder).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 !=  &gt;  &lt;  &gt;=  &lt;=  always return a boolean.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(AND), || (OR), ! (NOT) to combine conditions.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&amp; unary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+=  -=  *=  and  ++  -- to increment or decrement.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? valueIfTrue : valueIfFalse, a one-line if-else.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passed = 18, total = 20;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rate = passed * 100.0 / total;    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90.0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remainder = 17 % 5;                  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allPassed = passed == total;     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goodRun = rate &gt;= 80 &amp;&amp; !allPassed;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status = rate &gt;= 80 ? </a:t>
            </a:r>
            <a:r>
              <a:rPr lang="en-US" sz="12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"PASS"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r>
              <a:rPr lang="en-US" sz="12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"FAIL"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passed++;                                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+= 5;                              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Careful: == compares object references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a = </a:t>
            </a:r>
            <a:r>
              <a:rPr lang="en-US" sz="12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"Login"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b = </a:t>
            </a:r>
            <a:r>
              <a:rPr lang="en-US" sz="12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String(</a:t>
            </a:r>
            <a:r>
              <a:rPr lang="en-US" sz="12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"Login"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== b);              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System.out.println(a.equals(b));         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  &lt;- use this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Flow: if-else &amp; switch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decisions based on conditions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/ else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block only when its boolean condition is true.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conditions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&amp;&amp; and || instead of nesting too deeply.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one branch from many values (int, String, enum).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the switch; without it execution falls through to the next case.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browser, branch on environment, classify status codes.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statusCode = 404;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(statusCode &gt;= 200 &amp;&amp; statusCode &lt; 300)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"Success"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(statusCode &gt;= 400 &amp;&amp; statusCode &lt; 500)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"Client error"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printed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"Server error"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browser = 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"firefox"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(browser)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"chrome"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 =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ChromeDriver();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"firefox"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 =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FirefoxDriver();  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chosen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IllegalArgumentException(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"Unknown: 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browser);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actions without repeating code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number of iterations is known.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while a condition is true, e.g. polling until ready.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while, but the body always runs at least once.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way to walk through arrays and collections.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/ continue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the loop; continue skips to the next iteration.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1; i &lt;= 3; i++)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"Attempt 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i);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retries = 0;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loaded =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(!loaded &amp;&amp; retries &lt; 3) {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retry a flaky step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loaded = page.isLoaded();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retries++;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"Runs at least once"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pages = {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"Home"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"Cart"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"Checkout"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(String p : pages)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(p.equals(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"Cart"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skip Cart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"Testing 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p);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fixed-size container of values of the same type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length is set on creation and cannot grow.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Zero-indexed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element is [0]; the last is [length - 1].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int[5] creates defaults; {…} creates with values.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columns. TestNG @DataProvider returns Object[][] test data.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size changes at runtime, use an ArrayList instead.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browsers = {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"chrome"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"firefox"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"edge"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System.out.println(browsers[0]);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chrome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System.out.println(browsers.length);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scores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[3];    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{0, 0, 0}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scores[1] = 90;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Arrays.sort(browsers);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System.out.println(Arrays.toString(browsers));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[chrome, edge, firefox]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2D array: TestNG data-driven test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@DataProvider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 =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"loginData"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Object[][] loginData()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Object[][]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"admin123"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"guest"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"wrongPass"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(dataProvider =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"loginData"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login(String user, String pass,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ok) { }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used type in automation: locators, URLs, messages and JSON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returns a new String; the original never changes.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pool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Literals are reused; new String("x") always creates a new object.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equals() / equalsIgnoreCase() for content, never ==.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trim, contains, split, replace, substring, startsWith, length.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StringBuilder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and fast; use it to build strings inside loops.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raw =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Welcome, John | Dashboard  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 = raw.trim();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"Welcome, John | Dashboard"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t.length();       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t.contains(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"Dashboard"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t.startsWith(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"Welcome"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t.toUpperCase();  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"WELCOME, JOHN | DASHBOARD"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t.split(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"\\|"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)[0].trim();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"Welcome, John"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t.substring(9, 13);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"John"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t.replace(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"Jane"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"Welcome, Jane | Dashboard"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.equalsIgnoreCase(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Clean UI text before comparing numbers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priceText =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"$1,299.00"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clean = priceText.replaceAll(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"[$,]"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"1299.00"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price = Double.parseDouble(clean);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1299.0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StringBuilder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 sb =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StringBuilder(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sb.append(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).append(101);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Test-101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sb.reverse();     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101-tseT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blocks of code: the heart of a clean framework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modifier + return type + name + (parameters).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returns nothing; otherwise use return with a value.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instance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methods are called on the class; instance methods need an object.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name, different parameter list.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repeated steps: login(), getToken(), waitAndClick().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Utils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static: call as Utils.add(2, 3)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instance method: needs an object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buildUrl(String base, String path)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 + path;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overloading: same name, different parameters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waitFor(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seconds) {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waitFor(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seconds, String reason)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"Waiting 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seconds +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"s: 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reason);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 = Utils.add(2, 3);              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 u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Utils();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url = u.buildUrl(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"https://reqres.in"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"/api/users"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778240" y="914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244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Programming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frameworks like Page Object Model are designed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69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  •   Class &amp; object   •   Constructors   •   Encapsulation   •   Inheritance   •   Polymorphism   •   Abstraction   •   Keywords &amp; access modifiers   •   Packages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Pillars of OOP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maps directly to a pattern you will use in automation frameworks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522976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075688"/>
            <a:ext cx="4517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697480"/>
            <a:ext cx="50657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data behind private fields and expose it through methods.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automation: Page Objects keep locators private; POJOs wrap API payloads.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8776" y="1874520"/>
            <a:ext cx="5522976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37376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373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31736" y="2075688"/>
            <a:ext cx="4517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2697480"/>
            <a:ext cx="50657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class reuses the fields and methods of a parent class.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automation: every test class extends a BaseTest that opens and closes the browser.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83380"/>
            <a:ext cx="5522976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5800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384548"/>
            <a:ext cx="4517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006340"/>
            <a:ext cx="50657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reference, many forms: overloading and overriding.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automation: WebDriver driver = new ChromeDriver() or new FirefoxDriver().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08776" y="4183380"/>
            <a:ext cx="5522976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37376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37376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31736" y="4384548"/>
            <a:ext cx="4517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37376" y="5006340"/>
            <a:ext cx="50657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what an object does, hide how it does it.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automation: WebDriver is an interface; each browser driver implements it.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Object &amp; Constructor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the blueprint; objects are the real things built from 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fields (state) and methods (behaviour).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instance of a class, created with the new keyword.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 as the class, no return type; initializes the object.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vs parameterized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adds a no-arg constructor only if you write none.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the current object; this(...) calls another constructor.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job;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User() {                    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constructor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"Guest"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"Viewer"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calls the other one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User(String name, String job) {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parameterized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 = name;       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this.field = param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.job = job;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display()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System.out.println(name +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- 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job);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u1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User();           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1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u2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"QA"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2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u1.display();                   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Guest - Viewer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u2.display();                   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John - QA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data, public methods: the basis of POJOs and Page Objects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data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fields private so they cannot be changed directly.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&amp; setters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methods to read and update the fields.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Setters can reject bad values before they are stored.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POJOs are serialized to JSON request bodies by REST Assured (Jackson).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testing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 keep locators private and expose actions only.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Employee {           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POJO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name;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getName() {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name;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setName(String name) {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 = name;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getAge() {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age;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setAge(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age)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(age &lt; 18)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IllegalArgumentException(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 young"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.age = age;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 e =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Employee();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e.setName(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e.setAge(30);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e.age = -5;                  // compile error: private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 Assured turns the POJO into JSON automatically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given().contentType(ContentType.JSON).body(e)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.when().post(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"/api/users"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.then().statusCode(201);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common setup once in a parent class and reuse it everywhere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class inherits the fields and methods of its parent.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multilevel, hierarchical. A class can extend only one class.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parent constructor or a parent method.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redefines a parent method using @Override.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BaseTest opens and closes the browser; each test class extends it.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BaseTest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WebDriver driver;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@BeforeMethod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setUp()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ChromeDriver();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driver.manage().window().maximize();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@AfterMethod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tearDown()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driver.quit();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LoginTest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BaseTest {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inherits driver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validLogin()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driver.get(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"https://example.com/login"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setUp() and tearDown() run automatically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name, many forms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overloading, resolved by the parameter list.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overriding, resolved by the actual object type.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Upcasting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reference can hold a child object.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 driver = new ChromeDriver() lets the same test run on any browser.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Compile-time: overloading (Selenium uses it too)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 actions =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Actions(driver);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actions.click().perform();      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current mouse position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actions.click(element).perform();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 a given element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Runtime: overriding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Page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title() {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"Generic page"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LoginPage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Page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title() {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p =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LoginPage();       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parent ref, child object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System.out.println(p.title());  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Login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Same test code, any browser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WebDriver driver = browser.equals(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"chrome"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ChromeDriver()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FirefoxDriver();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Abstraction: Abstract Class &amp; Interface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must be done; let subclasses decide how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mix abstract and concrete methods, fields and constructors. A class extends only one.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of methods. A class can implement many interfaces.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8+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may also have default and static methods.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WebDriver, WebElement and TakesScreenshot are interfaces; ChromeDriver implements them.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Reportable {                    </a:t>
            </a:r>
            <a:r>
              <a:rPr lang="en-US" sz="10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contract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log(String msg);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pass() { log(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  </a:t>
            </a:r>
            <a:r>
              <a:rPr lang="en-US" sz="10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8 default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BasePage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Reportable {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WebDriver driver;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BasePage(WebDriver driver) {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.driver = driver; }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isLoaded();          </a:t>
            </a:r>
            <a:r>
              <a:rPr lang="en-US" sz="10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child must implement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log(String msg) { System.out.println(msg); }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HomePage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BasePage {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HomePage(WebDriver driver) {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(driver); }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isLoaded() {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driver.getTitle().contains(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"Home"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Selenium: casting to an interface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TakesScreenshot ts = (TakesScreenshot) driver;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shot = ts.getScreenshotAs(OutputType.FILE);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Modifiers &amp; Key Keywords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visibility and behaviour of classes, fields and methods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Anywhere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protected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private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4348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private, helper methods protected in a BaseTest, page actions and tests public.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92240" y="1920240"/>
            <a:ext cx="5239512" cy="960120"/>
          </a:xfrm>
          <a:prstGeom prst="roundRect">
            <a:avLst>
              <a:gd name="adj" fmla="val 5714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675120" y="192024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19202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 the class, not objects.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WebDriver driver;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92240" y="3008376"/>
            <a:ext cx="5239512" cy="960120"/>
          </a:xfrm>
          <a:prstGeom prst="roundRect">
            <a:avLst>
              <a:gd name="adj" fmla="val 5714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675120" y="3008376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3008376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cannot change, method cannot be overridden, class cannot be extended.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int TIMEOUT = 10;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92240" y="4096512"/>
            <a:ext cx="5239512" cy="960120"/>
          </a:xfrm>
          <a:prstGeom prst="roundRect">
            <a:avLst>
              <a:gd name="adj" fmla="val 5714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675120" y="4096512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409651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object; resolves field vs parameter names.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this.driver = driver;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92240" y="5184648"/>
            <a:ext cx="5239512" cy="960120"/>
          </a:xfrm>
          <a:prstGeom prst="roundRect">
            <a:avLst>
              <a:gd name="adj" fmla="val 5714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675120" y="5184648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518464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parent class constructor or method.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super(driver);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&amp; Framework Structure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classes the way a real automation project is laid out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namespace and folder that groups related classes.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class from another package: import org.openqa.selenium.By;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 vs src/test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framework code vs test classes (Maven convention).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files, test data and JSON schemas live under src/test/resources.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automation-framework/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pom.xml                       # Maven dependencies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testng.xml                    # suite definition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src/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main/java/com/company/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base/BaseTest.java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pages/LoginPage.java      # Page Objects (GUI)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api/UserClient.java       # API helpers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pojo/User.java            # request/response models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utils/ConfigReader.java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test/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java/com/company/tests/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├── ui/LoginTest.java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└── api/UserApiTest.java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resources/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├── config.properties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└── schemas/user-schema.json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778240" y="914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244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 &amp; Utilities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robust tests that fail with clear reasons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69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  •   Exception hierarchy   •   Custom exceptions   •   Wrapper classes   •   Enums   •   Files &amp; properties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failures gracefully and always clean up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that breaks the normal flow of a program.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 / finally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risky code, handle the failure, always run cleanup.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vs throws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raises an exception; throws declares it on a method.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RuntimeException for clear framework errors.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swallow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catch hides real failures; log and rethrow if unsure.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isElementPresent(By locator)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driver.findElement(locator);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(NoSuchElementException e)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 found: 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locator);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 completed"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always runs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throws: the caller must handle the checked exception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readFile(String path)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IOException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Files.readString(Path.of(path));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custom exception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FrameworkException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RuntimeException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FrameworkException(String msg) {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(msg);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FrameworkException(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"config.properties not found"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Hierarchy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exceptions must be handled at compile time; unchecked ones surface at runtime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74920" y="187452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21295C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74920" y="18745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7A8790"/>
          </a:solidFill>
          <a:ln w="15875">
            <a:solidFill>
              <a:srgbClr val="7A87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7200" y="26060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4920" y="260604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21295C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074920" y="2606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2313432"/>
            <a:ext cx="914" cy="14630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645920" y="2459736"/>
            <a:ext cx="443484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45920" y="2459736"/>
            <a:ext cx="914" cy="14630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2459736"/>
            <a:ext cx="914" cy="14630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91840" y="3337560"/>
            <a:ext cx="2560320" cy="438912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291840" y="33375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(compile time)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337560"/>
            <a:ext cx="2560320" cy="438912"/>
          </a:xfrm>
          <a:prstGeom prst="roundRect">
            <a:avLst>
              <a:gd name="adj" fmla="val 12500"/>
            </a:avLst>
          </a:prstGeom>
          <a:solidFill>
            <a:srgbClr val="21295C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126480" y="33375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RuntimeException (unchecked)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0" y="3337560"/>
            <a:ext cx="2770632" cy="438912"/>
          </a:xfrm>
          <a:prstGeom prst="roundRect">
            <a:avLst>
              <a:gd name="adj" fmla="val 12500"/>
            </a:avLst>
          </a:prstGeom>
          <a:solidFill>
            <a:srgbClr val="C98A2B"/>
          </a:solidFill>
          <a:ln w="15875">
            <a:solidFill>
              <a:srgbClr val="C98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961120" y="3337560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WebDriverException (Selenium)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3044952"/>
            <a:ext cx="914" cy="14630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3191256"/>
            <a:ext cx="283464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3191256"/>
            <a:ext cx="914" cy="14630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406640" y="3191256"/>
            <a:ext cx="914" cy="14630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686800" y="3557016"/>
            <a:ext cx="27432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86968" y="333756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86968" y="33375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OutOfMemoryError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" y="352958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86968" y="38404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886968" y="3840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StackOverflowError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" y="40325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8368" y="3044952"/>
            <a:ext cx="914" cy="987552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721608" y="40690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3721608" y="4069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IOException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93008" y="42611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721608" y="457200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3721608" y="4572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FileNotFoundException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93008" y="476402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721608" y="507492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3721608" y="5074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SQLException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493008" y="526694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721608" y="557784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3721608" y="55778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InterruptedException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493008" y="576986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493008" y="3776472"/>
            <a:ext cx="914" cy="1993392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556248" y="40690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6556248" y="4069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NullPointerException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327648" y="42611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556248" y="457200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6556248" y="4572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ArithmeticException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327648" y="476402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556248" y="507492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6556248" y="5074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ArrayIndexOutOfBounds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327648" y="526694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556248" y="557784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6556248" y="55778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NumberFormatException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327648" y="576986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327648" y="3776472"/>
            <a:ext cx="914" cy="1993392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390888" y="40690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9390888" y="4069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NoSuchElementException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9162288" y="42611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390888" y="457200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 txBox="1"/>
          <p:nvPr/>
        </p:nvSpPr>
        <p:spPr>
          <a:xfrm>
            <a:off x="9390888" y="4572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TimeoutException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162288" y="476402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390888" y="507492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9390888" y="5074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StaleElementReference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9162288" y="526694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390888" y="557784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 txBox="1"/>
          <p:nvPr/>
        </p:nvSpPr>
        <p:spPr>
          <a:xfrm>
            <a:off x="9390888" y="55778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ElementNotInteractable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9162288" y="576986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162288" y="3776472"/>
            <a:ext cx="914" cy="1993392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 txBox="1"/>
          <p:nvPr/>
        </p:nvSpPr>
        <p:spPr>
          <a:xfrm>
            <a:off x="457200" y="4480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JVM problems and should not be caught.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Wrapper Classes &amp; Autoboxing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versions of primitives, needed for collections and parsing text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→ Integer, double → Double, boolean → Boolean, char → Character.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store objects only: List&lt;Integer&gt;, never List&lt;int&gt;.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Autoboxing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converts between primitive and wrapper automatically.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UI/API text into numbers: Integer.parseInt("3").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Unboxing a null Integer throws NullPointerException.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 = 5;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boxed = count;                 </a:t>
            </a: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autoboxing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back = boxed;                      </a:t>
            </a: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unboxing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ids = </a:t>
            </a:r>
            <a:r>
              <a:rPr lang="en-US" sz="13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ArrayList&lt;&gt;();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ids.add(101);                          </a:t>
            </a: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 -&gt; Integer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Convert UI / API text into numbers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cartText = driver.findElement(By.id(</a:t>
            </a:r>
            <a:r>
              <a:rPr lang="en-US" sz="13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"cart"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)).getText();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items = Integer.parseInt(cartText);          </a:t>
            </a: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"3" -&gt; 3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= Double.parseDouble(</a:t>
            </a:r>
            <a:r>
              <a:rPr lang="en-US" sz="13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"249.99"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flag = Boolean.parseBoolean(</a:t>
            </a:r>
            <a:r>
              <a:rPr lang="en-US" sz="13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"true"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code = String.valueOf(404);     </a:t>
            </a: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404 -&gt; "404"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System.out.println(Integer.MAX_VALUE); </a:t>
            </a: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2147483647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a = 127, b = 127;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System.out.println(a.equals(b));       </a:t>
            </a: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true: use equals()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set of named constants, so no more "chrme" typos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class with a fixed set of instances.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rejects values that do not exist.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&amp; methods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can have constructors, fields and methods.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work naturally with switch statements.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Browsers, environments, user roles, HTTP status codes.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Env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QA(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"https://qa.example.com"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"https://stage.example.com"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"https://www.example.com"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url;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Env(String url) {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.url = url;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getUrl() {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url;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env = Env.valueOf(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"QA"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from config / CLI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driver.get(env.getUrl());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Browser { CHROME, FIREFOX, EDGE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(Browser.valueOf(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"CHROME"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CHROME:  driver =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ChromeDriver();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FIREFOX: driver =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FirefoxDriver();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EDGE:    driver =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EdgeDriver();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 &amp; Properties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configuration outside the code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key=value file for URL, browser, timeouts and credentials.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files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FileInputStream, BufferedReader or Files.readString().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are closed automatically, even on failure.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block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when the class loads, a good place to load config.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environment or browser without recompiling.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src/test/resources/config.properties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baseUrl=https://reqres.in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browser=chrome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timeout=10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ConfigReader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Properties props =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Properties();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PATH =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"src/test/resources/config.properties"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                         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once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(FileInputStream fis =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FileInputStream(PATH))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props.load(fis);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(IOException e)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RuntimeException(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"Cannot load 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PATH, e);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get(String key)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props.getProperty(key);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url = ConfigReader.get(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"baseUrl"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778240" y="914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244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Framework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search and sort groups of objects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69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  •   List   •   Set   •   Map   •   Iterating   •   Sorting &amp; Comparator   •   Collections utility   •   Generics   •   Choosing the right one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Framework Hierarchy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java.util: ready-made data structures that grow and shrink as needed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187452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92608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Iterable&lt;E&gt;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256032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92608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Collection&lt;E&gt;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77640" y="2286000"/>
            <a:ext cx="914" cy="274320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77640" y="2971800"/>
            <a:ext cx="914" cy="182880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71600" y="3154680"/>
            <a:ext cx="493776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71600" y="3154680"/>
            <a:ext cx="914" cy="182880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List&lt;E&gt;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3154680"/>
            <a:ext cx="914" cy="182880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926080" y="33375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292608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Set&lt;E&gt;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154680"/>
            <a:ext cx="914" cy="182880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94960" y="33375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39496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Queue&lt;E&gt;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52560" y="33375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05256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Map&lt;K, V&gt;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25603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hierarchy: key-value pairs, not a Collection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6968" y="402336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86968" y="4023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" y="421538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86968" y="45262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86968" y="45262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" y="47183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86968" y="502920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86968" y="50292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8368" y="522122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8368" y="3749040"/>
            <a:ext cx="914" cy="147218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355848" y="402336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3355848" y="4023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127248" y="421538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355848" y="45262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3355848" y="45262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LinkedHashSet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127248" y="47183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355848" y="502920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3355848" y="50292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TreeSet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127248" y="522122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127248" y="3749040"/>
            <a:ext cx="914" cy="147218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824728" y="402336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5824728" y="4023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596128" y="421538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824728" y="45262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5824728" y="45262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ArrayDeque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596128" y="47183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596128" y="3749040"/>
            <a:ext cx="914" cy="96926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482328" y="402336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9482328" y="4023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253728" y="421538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482328" y="45262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9482328" y="45262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LinkedHashMap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253728" y="47183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482328" y="502920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9482328" y="50292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253728" y="522122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482328" y="553212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9482328" y="55321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Hashtable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9253728" y="572414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253728" y="3749040"/>
            <a:ext cx="914" cy="197510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052560" y="187452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 txBox="1"/>
          <p:nvPr/>
        </p:nvSpPr>
        <p:spPr>
          <a:xfrm>
            <a:off x="905256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0378440" y="187452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 txBox="1"/>
          <p:nvPr/>
        </p:nvSpPr>
        <p:spPr>
          <a:xfrm>
            <a:off x="1037844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457200" y="5669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to the interface:  List&lt;String&gt; names = new ArrayList&lt;&gt;();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List: ArrayList &amp; LinkedList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index-based and allows duplicates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insertion order, allows duplicates and nulls, access by index.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resizable array; fast get(i). The default choice.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doubly linked list; fast add/remove at the ends.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methods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get, set, remove, size, contains, indexOf, isEmpty, clear.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driver.findElements() returns List&lt;WebElement&gt;.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items =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items.add(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"Laptop"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items.add(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"Mouse"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items.add(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"Laptop"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duplicates allowed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items.add(1,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"Keyboard"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 at index 1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[Laptop, Keyboard, Mouse, Laptop]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items.get(0);          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Laptop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items.set(2,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"Monitor"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replace Mouse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items.remove(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"Laptop"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removes the first match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items.size();          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items.contains(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"Mouse"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items.indexOf(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"Monitor"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Selenium: print every link on the page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List&lt;WebElement&gt; links = driver.findElements(By.tagName(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 links: 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links.size());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(WebElement link : links)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System.out.println(link.getText());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Set: HashSet, LinkedHashSet &amp; TreeSet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elements only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duplicates; add() returns false if the value already exists.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Fastest; order is not guaranteed.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LinkedHashSet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insertion order.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TreeSet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elements sorted; null is not allowed.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getWindowHandles() returns Set&lt;String&gt;; finding duplicate dropdown values.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Set&lt;String&gt; tags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HashSet&lt;&gt;();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tags.add(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"smoke"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tags.add(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"regression"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added = tags.add(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"smoke"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false: duplicate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System.out.println(tags.size());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Set&lt;Integer&gt; sorted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TreeSet&lt;&gt;(List.of(5, 1, 3));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System.out.println(sorted);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3, 5]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Selenium: switch to the newly opened tab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parent = driver.getWindowHandle();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Set&lt;String&gt; handles = driver.getWindowHandles();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(String h : handles)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(!h.equals(parent)) driver.switchTo().window(h);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 duplicate options in a dropdown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Set&lt;String&gt; seen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HashSet&lt;&gt;();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(WebElement opt :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Select(dropdown).getOptions())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text = opt.getText();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(!seen.add(text)) System.out.println(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"Duplicate: 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text);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Map: HashMap, LinkedHashMap &amp; TreeMap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pairs, perfect for headers, JSON payloads and test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keys map to values; values can repeat.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no guaranteed order, allows one null key.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LinkedHashMap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insertion order, handy for readable JSON payloads.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key.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put, get, getOrDefault, containsKey, remove, keySet, values, entrySet.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String&gt; headers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HashMap&lt;&gt;();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headers.put(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"Content-Type"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"application/json"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headers.put(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"Authorization"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"Bearer abc123"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headers.get(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"Content-Type"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application/json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headers.getOrDefault(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"Accept"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"*/*"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*/*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headers.containsKey(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"Authorization"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(Map.Entry&lt;String, String&gt; e : headers.entrySet())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System.out.println(e.getKey() +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= 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e.getValue());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 Assured: Map as headers and as the JSON body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Object&gt; body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LinkedHashMap&lt;&gt;();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body.put(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body.put(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"job"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"QA Engineer"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given().headers(headers).body(body)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.when().post(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"/api/users"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.then().statusCode(201);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Response JSON object -&gt; Map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Object&gt; user = response.jsonPath().getMap(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Iterating Collections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to loop, and one classic mistake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loop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for Lists: list.get(i).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read-only traversal.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safe way to remove elements while looping.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+ lambda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Java 8 style, also available on Map.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inside a for-each throws ConcurrentModificationException.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users =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ArrayList&lt;&gt;(List.of(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"jane"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"guest"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0; i &lt; users.size(); i++)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index loop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System.out.println(users.get(i));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(String u : users)             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for-each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System.out.println(u);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Iterator&lt;String&gt; it = users.iterator();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Iterator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(it.hasNext())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(it.next().equals(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"guest"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it.remove();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 remove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users.forEach(u -&gt; System.out.println(u));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lambda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users.forEach(System.out::println);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method reference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Integer&gt; stock = Map.of(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10, 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"book"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4);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Map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stock.forEach((k, v) -&gt; System.out.println(k + 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v));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Wrong: ConcurrentModificationException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 (String u : users) users.remove(u);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users.removeIf(u -&gt; u.startsWith(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right way (Java 8)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Sorting: Collections, Comparable &amp; Comparator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sorted tables and lists really are sorted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class: sort, reverse, max, min, frequency, shuffle.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defines its own natural order via compareTo().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external, custom order; chain with thenComparing().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column header, collect the values, compare with a sorted copy.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prices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ArrayList&lt;&gt;(List.of(499, 99, 250));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Collections.sort(prices);        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[99, 250, 499]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Collections.reverse(prices);     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[499, 250, 99]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 = Collections.max(prices);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499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Comparator: custom order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names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ArrayList&lt;&gt;(List.of(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"zoe"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"Amy"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"bob"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names.sort(String.CASE_INSENSITIVE_ORDER);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[Amy, bob, zoe]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names.sort(Comparator.comparing(String::length)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.thenComparing(Comparator.reverseOrder()));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Verify a web table column is sorted A -&gt; Z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driver.findElement(By.id(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"sort-by-name"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)).click();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actual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List&lt;WebElement&gt; cells = driver.findElements(By.cssSelector(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"td.name"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(WebElement cell : cells) actual.add(cell.getText());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expected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ArrayList&lt;&gt;(actual);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Collections.sort(expected);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Assert.assertEquals(actual, expected,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 column is not sorted"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 at compile time, with no casting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parameter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&lt;T&gt; lets a class or method work with any type safely.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checks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types are caught before the test ever runs.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&lt;&gt;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infers the type on the right-hand side.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generic method or class and use it for every type.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Deserialize any API response: response.as(User.class).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generics: casting and runtime failures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raw =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ArrayList();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raw.add(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n = (Integer) raw.get(0);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ClassCastException!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 generics: checked by the compiler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safe =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safe.add(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safe.add(10);                      // compile error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Generic method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&lt;T&gt; T firstOrNull(List&lt;T&gt; list)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list.isEmpty() ?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list.get(0);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first = firstOrNull(List.of(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"a"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Generic class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ApiResult&lt;T&gt;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 data;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 getData() {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data;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 Assured: JSON -&gt; any POJO type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user = response.as(User.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Collection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reference for the classes you will use most</a:t>
            </a:r>
            <a:endParaRPr lang="en-US" sz="15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4552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ArrayList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lists, test data, API arrays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LinkedList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 add/remove at the ends, queues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HashSet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values, window handles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LinkedHashSet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values in display 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TreeSet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unique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HashMap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Keys: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Headers, config, lookups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LinkedHashMap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Keys: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JSON payloads, reports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TreeMap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by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Keys: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summaries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778240" y="914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244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8 &amp; Automation in Practice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Java plus real GUI and API test code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69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  •   Functional interfaces   •   Streams API   •   Selenium with Java   •   REST Assured with Java   •   Best practices   •   Interview questions   •   Practice exercises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Lambdas &amp; Functional Interfaces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behaviour as a value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anonymous function: (params) -&gt; expression.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interface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exactly one abstract method: Runnable, Predicate, Function, Consumer, Supplier.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reference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shorthand for a lambda: System.out::println.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explicit waits in Selenium; filtering API data.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Before Java 8: anonymous class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r1 =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Runnable()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run() { 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"Running"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8: lambda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r2 = () -&gt; 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"Running"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Predicate&lt;Integer&gt; isSuccess = code -&gt; code &gt;= 200 &amp;&amp; code &lt; 300;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isSuccess.test(201);             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Function&lt;String, Integer&gt; len = s -&gt; s.length();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Consumer&lt;String&gt; log = System.out::println;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Supplier&lt;WebDriver&gt; chrome = ChromeDriver::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WebDriver driver = chrome.get();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Selenium explicit wait with a lambda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WebDriverWait(driver, Duration.ofSeconds(10))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.until(d -&gt; d.findElement(By.id(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)).isDisplayed());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Streams API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transform and collect data in a readable pipeline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over a collection; the source is not modified.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map, sorted, distinct, limit (lazy).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toList, count, forEach, anyMatch, allMatch, findFirst.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visible elements, extract texts, validate API lists in one line.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codes = List.of(200, 404, 201, 500, 200);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errors = codes.stream()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.filter(c -&gt; c &gt;= 400)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.collect(Collectors.toList());  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[404, 500]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 = codes.stream().filter(c -&gt; c == 200).count();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unique = codes.stream()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.distinct().sorted().toList();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[200, 201, 404, 500]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Selenium: texts of all visible menu items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menu = driver.findElements(By.cssSelector(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".menu li"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.stream()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.filter(WebElement::isDisplayed)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.map(WebElement::getText)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.toList();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 Assured: does any user have a reqres.in email?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emails = response.jsonPath().getList(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"data.email"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found = emails.stream()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.anyMatch(e -&gt; e.endsWith(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"@reqres.in"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Selenium (GUI)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Object and a test, built only from the concepts in this course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7818120" cy="4480560"/>
          </a:xfrm>
          <a:prstGeom prst="roundRect">
            <a:avLst>
              <a:gd name="adj" fmla="val 2041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2084832"/>
            <a:ext cx="7306056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LoginPage {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WebDriver driver;                 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encapsulation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 username = By.id(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"username"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 password = By.id(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 loginBtn = By.id(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 errors   = By.cssSelector(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".error"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LoginPage(WebDriver driver) {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.driver = driver; }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constructor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login(String user, String pass) {   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reusable method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driver.findElement(username).sendKeys(user);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driver.findElement(password).sendKeys(pass);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driver.findElement(loginBtn).click();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List&lt;String&gt; getErrors() {               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 + stream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driver.findElements(errors).stream()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.map(WebElement::getText).toList();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LoginTest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BaseTest {           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inheritance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invalidLoginShowsError() {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LoginPage page =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LoginPage(driver);     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page.login(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"wrong"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Assert.assertTrue(page.getErrors().contains(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"Invalid credentials"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concepts used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49640" y="2286000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686800" y="2286000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object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 is created with new LoginPage(driver).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49640" y="3103474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686800" y="3103474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are private final fields.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49640" y="3920947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86800" y="3920947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&amp; this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is injected and stored.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49640" y="4738421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686800" y="4738421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LoginTest extends BaseTest for setup and teardown.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49640" y="5555894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686800" y="5555894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&amp; streams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findElements → List → stream().map().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REST Assured (API)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Java concepts applied to API tests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7818120" cy="4480560"/>
          </a:xfrm>
          <a:prstGeom prst="roundRect">
            <a:avLst>
              <a:gd name="adj" fmla="val 2041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2084832"/>
            <a:ext cx="7306056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UserApiTest 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BASE_URI = 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"https://reqres.in"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r>
              <a:rPr lang="en-US" sz="10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constant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@BeforeClass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setup() { RestAssured.baseURI = BASE_URI; }    </a:t>
            </a:r>
            <a:r>
              <a:rPr lang="en-US" sz="10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static field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createUserReturns201() 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Map&lt;String, Object&gt; body =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HashMap&lt;&gt;();            </a:t>
            </a:r>
            <a:r>
              <a:rPr lang="en-US" sz="10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 as JSON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body.put(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body.put(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"job"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"QA Engineer"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 res = given().contentType(ContentType.JSON).body(body)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.when().post(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"/api/users"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.then().statusCode(201).extract().response();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id = res.jsonPath().getString(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</a:t>
            </a:r>
            <a:r>
              <a:rPr lang="en-US" sz="10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Assert.assertNotNull(id, 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 should be generated"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allUsersHaveValidEmails() 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List&lt;String&gt; emails = given().when().get(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"/api/users?page=2"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.then().statusCode(200)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.extract().jsonPath().getList(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"data.email"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r>
              <a:rPr lang="en-US" sz="10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Assert.assertTrue(emails.stream().allMatch(e -&gt; e.contains(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"@"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concepts used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49640" y="2286000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686800" y="2286000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final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URI is a class-level constant.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49640" y="3103474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686800" y="3103474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becomes the JSON request body.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49640" y="3920947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86800" y="3920947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chaining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given().when().then() returns objects fluently.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49640" y="4738421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686800" y="4738421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&amp; generics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jsonPath().getList() returns List&lt;String&gt;.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49640" y="5555894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686800" y="5555894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&amp; streams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allMatch() validates every email in one line.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33502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Automation Code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keep a framework readable and reliable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05784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075688"/>
            <a:ext cx="2599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conventions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697480"/>
            <a:ext cx="314858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in PascalCase, methods and variables in camelCase, constants in UPPER_CASE.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1584" y="1874520"/>
            <a:ext cx="3605784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20184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52018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14544" y="2075688"/>
            <a:ext cx="2599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equals(), not ==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20184" y="2697480"/>
            <a:ext cx="314858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Strings and wrapper objects by content with equals().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25968" y="1874520"/>
            <a:ext cx="3605784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54568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35456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948928" y="2075688"/>
            <a:ext cx="2599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to interfaces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54568" y="2697480"/>
            <a:ext cx="314858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List&lt;String&gt; list = new ArrayList&lt;&gt;();  WebDriver driver = new ChromeDriver();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83380"/>
            <a:ext cx="3605784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85800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384548"/>
            <a:ext cx="2599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hard-coded waits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006340"/>
            <a:ext cx="314858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Thread.sleep(); use WebDriverWait with expected conditions.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91584" y="4183380"/>
            <a:ext cx="3605784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20184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520184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114544" y="4384548"/>
            <a:ext cx="2599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Externalize config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520184" y="5006340"/>
            <a:ext cx="314858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browsers and credentials belong in properties files, not code.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25968" y="4183380"/>
            <a:ext cx="3605784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354568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8354568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948928" y="4384548"/>
            <a:ext cx="2599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exceptions properly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354568" y="5006340"/>
            <a:ext cx="314858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an empty catch; log clearly or rethrow a custom exception.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33502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Asked Interview Questions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questions every automation tester should be able to answer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== and equals()?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334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vs StringBuilder vs StringBuffer?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5720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3467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String immutable?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0599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5720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0599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 vs overriding?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7731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773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vs interface?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5486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5720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5486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vs finally vs finalize?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7920" y="19202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2179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vs unchecked exceptions?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7920" y="263347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21792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26334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vs LinkedList?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7920" y="3346704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21792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33467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vs Set vs Map?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4059936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21792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40599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vs Hashtable vs ConcurrentHashMap?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7920" y="477316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21792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0" y="4773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HashMap work internally?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7920" y="54864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21792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0" y="5486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vs Comparator?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33502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Exercises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tasks to lock in each section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&amp; palindrome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69748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 String without reverse() and check whether it is a palindrome.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2988" y="187452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61588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56158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155948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characters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61588" y="269748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occurrences of each character in a String using a HashMap.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08776" y="187452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37376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373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31736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37376" y="269748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from a List while keeping order (LinkedHashSet).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84564" y="187452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13164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31316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907524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largest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313164" y="269748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second largest number in an int array without sorting.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18338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85800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438454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BaseTest + Page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00634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BaseTest and one Page Object for a login page using inheritance.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32988" y="418338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561588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3561588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155948" y="438454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reader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561588" y="500634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baseUrl and browser from config.properties and launch accordingly.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08776" y="418338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37376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437376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7031736" y="438454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links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437376" y="500634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all links with findElements and report those returning ≥ 400.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84564" y="418338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313164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9313164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9907524" y="438454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+ Streams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9313164" y="500634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/api/users?page=2 and print the first names sorted alphabetically.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Write code every day. Concepts stick when you automate with them.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TestNG  •  Maven  •  Selenium WebDriver  •  REST Assured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8831</Words>
  <Application>Microsoft Macintosh PowerPoint</Application>
  <PresentationFormat>Widescreen</PresentationFormat>
  <Paragraphs>1360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Java for Test Automation</dc:title>
  <dc:subject>PptxGenJS Presentation</dc:subject>
  <dc:creator>Subhendu Automation Trainer</dc:creator>
  <cp:lastModifiedBy>Office</cp:lastModifiedBy>
  <cp:revision>1</cp:revision>
  <dcterms:created xsi:type="dcterms:W3CDTF">2026-09-27T02:43:42Z</dcterms:created>
  <dcterms:modified xsi:type="dcterms:W3CDTF">2026-09-30T11:02:28Z</dcterms:modified>
</cp:coreProperties>
</file>