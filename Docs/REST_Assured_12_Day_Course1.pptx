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91" r:id="rId4"/>
    <p:sldId id="292" r:id="rId5"/>
    <p:sldId id="293" r:id="rId6"/>
    <p:sldId id="283" r:id="rId7"/>
    <p:sldId id="284" r:id="rId8"/>
    <p:sldId id="285" r:id="rId9"/>
    <p:sldId id="286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7" r:id="rId35"/>
    <p:sldId id="288" r:id="rId36"/>
    <p:sldId id="289" r:id="rId37"/>
    <p:sldId id="290" r:id="rId38"/>
    <p:sldId id="282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502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ASSURED API TESTING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BF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Simple Examples — A 12-Day Course Deck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3977640"/>
            <a:ext cx="2011680" cy="0"/>
          </a:xfrm>
          <a:prstGeom prst="line">
            <a:avLst/>
          </a:prstGeom>
          <a:noFill/>
          <a:ln w="31750">
            <a:solidFill>
              <a:srgbClr val="6FD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4160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8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•  TestNG  •  Maven  •  IntelliJ IDEA  •  Jenkins</a:t>
            </a:r>
            <a:endParaRPr lang="en-US" sz="1300" dirty="0"/>
          </a:p>
        </p:txBody>
      </p:sp>
      <p:sp>
        <p:nvSpPr>
          <p:cNvPr id="8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12-Day Study Plan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6187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88720" y="1234440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REST Assured &amp; API Testing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801368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39572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395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368296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Requests &amp; Response Validation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96265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935224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Requests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52958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529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502152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Console Output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09651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Chaining &amp; Parameters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0" y="126187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1234440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Requests Using External Files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0" y="18288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1801368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Path Expressions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0" y="239572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0" y="2395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2368296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0" y="296265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0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2935224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Validation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400800" y="352958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0" y="3529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49440" y="3502152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&amp; PATCH Requests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400800" y="409651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0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49440" y="4069080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DELETE, TestNG Suites &amp; Jenkins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40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API Testing?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Programming Interface: lets two software systems talk to each other.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requests straight to the API and validate the responses, with no UI involved.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validate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code, response body, headers, response time and error handling.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sits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business-logic layer, between the user interface and the database.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525780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5202936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for manual exploration; REST Assured (Java) for automated tests.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8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96596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1295C"/>
                </a:solidFill>
                <a:latin typeface="Calibri"/>
              </a:rPr>
              <a:t>Where API testing fits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2377440"/>
            <a:ext cx="2971800" cy="822960"/>
          </a:xfrm>
          <a:prstGeom prst="roundRect">
            <a:avLst/>
          </a:prstGeom>
          <a:solidFill>
            <a:srgbClr val="E8F1F5"/>
          </a:solidFill>
          <a:ln w="15875">
            <a:solidFill>
              <a:srgbClr val="8A9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0" y="2377440"/>
            <a:ext cx="29718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B2A33"/>
                </a:solidFill>
                <a:latin typeface="Calibri"/>
              </a:rPr>
              <a:t>UI Layer</a:t>
            </a:r>
          </a:p>
          <a:p>
            <a:pPr algn="ctr"/>
            <a:r>
              <a:rPr sz="1100" b="0" i="0">
                <a:solidFill>
                  <a:srgbClr val="5B6B73"/>
                </a:solidFill>
                <a:latin typeface="Calibri"/>
              </a:rPr>
              <a:t>Browser  •  Mobile app</a:t>
            </a:r>
          </a:p>
        </p:txBody>
      </p:sp>
      <p:sp>
        <p:nvSpPr>
          <p:cNvPr id="22" name="Up-Down Arrow 21"/>
          <p:cNvSpPr/>
          <p:nvPr/>
        </p:nvSpPr>
        <p:spPr>
          <a:xfrm>
            <a:off x="10136124" y="3246120"/>
            <a:ext cx="256032" cy="411480"/>
          </a:xfrm>
          <a:prstGeom prst="upDownArrow">
            <a:avLst/>
          </a:prstGeom>
          <a:solidFill>
            <a:srgbClr val="B7C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778240" y="3703320"/>
            <a:ext cx="2971800" cy="10515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0" y="3749039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API Layer</a:t>
            </a:r>
          </a:p>
          <a:p>
            <a:pPr algn="ctr"/>
            <a:r>
              <a:rPr sz="1100" b="0" i="0">
                <a:solidFill>
                  <a:srgbClr val="E8F1F5"/>
                </a:solidFill>
                <a:latin typeface="Calibri"/>
              </a:rPr>
              <a:t>Business logic  •  REST endpoints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4343400"/>
            <a:ext cx="1874519" cy="292608"/>
          </a:xfrm>
          <a:prstGeom prst="round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0" y="4343400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API tests run here</a:t>
            </a:r>
          </a:p>
        </p:txBody>
      </p:sp>
      <p:sp>
        <p:nvSpPr>
          <p:cNvPr id="27" name="Up-Down Arrow 26"/>
          <p:cNvSpPr/>
          <p:nvPr/>
        </p:nvSpPr>
        <p:spPr>
          <a:xfrm>
            <a:off x="10136124" y="4791456"/>
            <a:ext cx="256032" cy="347472"/>
          </a:xfrm>
          <a:prstGeom prst="upDownArrow">
            <a:avLst/>
          </a:prstGeom>
          <a:solidFill>
            <a:srgbClr val="B7C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an 27"/>
          <p:cNvSpPr/>
          <p:nvPr/>
        </p:nvSpPr>
        <p:spPr>
          <a:xfrm>
            <a:off x="9189719" y="5166360"/>
            <a:ext cx="2148840" cy="960120"/>
          </a:xfrm>
          <a:prstGeom prst="can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89719" y="539496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API Call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sends a request; the server returns a response that we validate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REQUEST: client -&gt; server  (method + endpoint, headers, body)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https://reqres.in/api/users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"name": "John", "job": "QA Engineer"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RESPONSE: server -&gt; client  (status line, headers, body)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HTTP/1.1 201 Created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application/json; charset=utf-8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"name": "John", "job": "QA Engineer", "id": "742"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API test = send the request, then assert on the response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e.g. status is 201, "name" is "John", "id" is not empty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API Testing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048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0000"/>
            <a:ext cx="758952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milliseconds; no browser to launch or page to render.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7548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700000"/>
            <a:ext cx="758952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testing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before the UI is built, as soon as the endpoints are ready.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4048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350000"/>
            <a:ext cx="758952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stable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Unaffected by UI or locator changes, so far fewer flaky tests.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0548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000000"/>
            <a:ext cx="758952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coverage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business logic, negative and edge cases the UI cannot.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7048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650000"/>
            <a:ext cx="758952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Language-independent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JSON/XML data can be tested from any language or tool.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53548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5300000"/>
            <a:ext cx="758952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friendly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to run on every commit; bugs caught early cost less.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20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96596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1295C"/>
                </a:solidFill>
                <a:latin typeface="Calibri"/>
              </a:rPr>
              <a:t>Test automation pyramid</a:t>
            </a:r>
          </a:p>
        </p:txBody>
      </p:sp>
      <p:sp>
        <p:nvSpPr>
          <p:cNvPr id="22" name="Freeform 21"/>
          <p:cNvSpPr/>
          <p:nvPr/>
        </p:nvSpPr>
        <p:spPr>
          <a:xfrm>
            <a:off x="9783407" y="2423160"/>
            <a:ext cx="961465" cy="1005840"/>
          </a:xfrm>
          <a:custGeom>
            <a:avLst/>
            <a:gdLst/>
            <a:ahLst/>
            <a:cxnLst/>
            <a:rect l="l" t="t" r="r" b="b"/>
            <a:pathLst>
              <a:path w="961465" h="1005840">
                <a:moveTo>
                  <a:pt x="480733" y="0"/>
                </a:moveTo>
                <a:lnTo>
                  <a:pt x="961465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8A9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reeform 22"/>
          <p:cNvSpPr/>
          <p:nvPr/>
        </p:nvSpPr>
        <p:spPr>
          <a:xfrm>
            <a:off x="9280823" y="3493008"/>
            <a:ext cx="1966633" cy="987552"/>
          </a:xfrm>
          <a:custGeom>
            <a:avLst/>
            <a:gdLst/>
            <a:ahLst/>
            <a:cxnLst/>
            <a:rect l="l" t="t" r="r" b="b"/>
            <a:pathLst>
              <a:path w="1966633" h="987552">
                <a:moveTo>
                  <a:pt x="471992" y="0"/>
                </a:moveTo>
                <a:lnTo>
                  <a:pt x="1494641" y="0"/>
                </a:lnTo>
                <a:lnTo>
                  <a:pt x="1966633" y="987552"/>
                </a:lnTo>
                <a:lnTo>
                  <a:pt x="0" y="987552"/>
                </a:lnTo>
                <a:close/>
              </a:path>
            </a:pathLst>
          </a:cu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reeform 23"/>
          <p:cNvSpPr/>
          <p:nvPr/>
        </p:nvSpPr>
        <p:spPr>
          <a:xfrm>
            <a:off x="8778240" y="4544568"/>
            <a:ext cx="2971800" cy="987552"/>
          </a:xfrm>
          <a:custGeom>
            <a:avLst/>
            <a:gdLst/>
            <a:ahLst/>
            <a:cxnLst/>
            <a:rect l="l" t="t" r="r" b="b"/>
            <a:pathLst>
              <a:path w="2971800" h="987552">
                <a:moveTo>
                  <a:pt x="471991" y="0"/>
                </a:moveTo>
                <a:lnTo>
                  <a:pt x="2499808" y="0"/>
                </a:lnTo>
                <a:lnTo>
                  <a:pt x="2971800" y="987552"/>
                </a:lnTo>
                <a:lnTo>
                  <a:pt x="0" y="987552"/>
                </a:lnTo>
                <a:close/>
              </a:path>
            </a:pathLst>
          </a:cu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15500" y="29260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UI</a:t>
            </a:r>
          </a:p>
          <a:p>
            <a:pPr algn="ctr"/>
            <a:r>
              <a:rPr sz="900" b="0" i="1">
                <a:solidFill>
                  <a:srgbClr val="F2F4F5"/>
                </a:solidFill>
                <a:latin typeface="Calibri"/>
              </a:rPr>
              <a:t>slow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8300" y="361188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API / Service</a:t>
            </a:r>
          </a:p>
          <a:p>
            <a:pPr algn="ctr"/>
            <a:r>
              <a:rPr sz="1000" b="0" i="0">
                <a:solidFill>
                  <a:srgbClr val="E8F1F5"/>
                </a:solidFill>
                <a:latin typeface="Calibri"/>
              </a:rPr>
              <a:t>fast  •  stable  •  high 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2540" y="4709160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Unit</a:t>
            </a:r>
          </a:p>
          <a:p>
            <a:pPr algn="ctr"/>
            <a:r>
              <a:rPr sz="1000" b="0" i="0">
                <a:solidFill>
                  <a:srgbClr val="E8F1F5"/>
                </a:solidFill>
                <a:latin typeface="Calibri"/>
              </a:rPr>
              <a:t>fastest  •  most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62356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5B6B73"/>
                </a:solidFill>
                <a:latin typeface="Calibri"/>
              </a:rPr>
              <a:t>Most automated checks should live in the lower layers; API tests give the best balance of speed and coverage.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Methods — The Basics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a resource without changing it — safe and read-only.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resource; the server usually assigns its ID.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entire resource with the payload sent.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updates a resource — only the included fields change.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525780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5202936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 resource; the response body is usually empty.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8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vs PUT vs PATCH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resource, three different calls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POST — create a new resource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given().contentType("json").body(newUser)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.when().post("/api/users")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.then().statusCode(201);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PUT — replace the whole resource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given().contentType("json").body(fullUser)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.when().put("/api/users/2")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.then().statusCode(200);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PATCH — update part of the resource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given().contentType("json").body(partialUser)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.when().patch("/api/users/2")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.then().statusCode(200);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&amp; DELETE at a Glance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resource, then removing 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— retrieve a resource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.when().get("/api/users/2")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.then().statusCode(200);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 — remove a resource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.when().delete("/api/users/2")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.then().statusCode(204);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Status Codes — The Basics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048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0000"/>
            <a:ext cx="758952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succeeded; the response body has the data.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7548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700000"/>
            <a:ext cx="758952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resource was created (typical POST response).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4048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350000"/>
            <a:ext cx="758952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No Content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Success, but no response body (typical DELETE response).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0548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000000"/>
            <a:ext cx="758952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was malformed or invalid.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7048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650000"/>
            <a:ext cx="758952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Not Found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requested resource doesn't exist.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53548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5300000"/>
            <a:ext cx="758952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Internal Server Error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failed on the server side.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20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REST Assured &amp; API Testing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REST Assured?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library that provides a readable, fluent DSL for testing REST APIs.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Given-When-Then syntax, built-in JSON/XML support, integrates with TestNG/Maven/Jenkins.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Java-only, no GUI (unlike Postman), steeper learning curve for non-programmers.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API Testing?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business logic and data at the API layer — faster and more stable than UI testing.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525780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5202936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Maven, TestNG, IntelliJ IDEA, Jenkins.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8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REST Assured GET request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.get("https://reqres.in/api/users/2")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.statusCode(200);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 used to write, run, and debug the Java test code.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framework that manages annotations, execution order, and assertions.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 that manages dependencies and the project lifecycle via pom.xml.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Maven project, add dependencies, then create packages and classes.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REST Assured &amp; TestNG in pom.xml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&lt;groupId&gt;io.rest-assured&lt;/groupId&gt;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&lt;artifactId&gt;rest-assured&lt;/artifactId&gt;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&lt;version&gt;5.4.0&lt;/version&gt;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Requests &amp; Response Validation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data from an endpoint without modifying server state.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outcome of a request, e.g. 200 OK, 404 Not Found.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line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the protocol version, status code, and reason phrase.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metadata such as Content-Type and authentication tokens.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525780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5202936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JSON/XML payload, validated with Hamcrest matchers.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8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status, headers, and body in one chain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.when().get("/api/users/2")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.statusCode(200)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.header("Content-Type", containsString("json"))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.body("data.id", equalTo(2));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Requests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request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resource; the request needs a JSON body.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JSONObject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org.json class used to build the payload as key-value pairs.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contentType(JSON)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server the payload format being sent.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the 201 status and that returned fields match the input.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request body and posting 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JSONObject req = new JSONObject();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req.put("name", "John");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req.put("job", "QA Engineer");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given().contentType("application/json").body(req.toString())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.when().post("/api/users")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.then().statusCode(201).body("name", equalTo("John"));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&amp; Console Output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log?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shows the exact request/response, which speeds up debugging.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.log().all()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full request or response — headers, body, cookies, status.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logging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only headers or only the body to cut down on noise.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verbose logs while developing; keep CI logs minimal.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both the request and the response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.log().all()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.when().get("/api/users/2")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.log().all()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.statusCode(200);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Chaining &amp; Parameters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chaining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data extracted from one response into the next request.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parameters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 in the URL, e.g. /users/{id}.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parameters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or sort data, e.g. ?page=2.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keeps tests realistic instead of relying on hard-coded values.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an id, then using it as a path parameter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id = given().when().get("/users")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.then().extract().path("data[0].id");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.pathParam("id", id)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.when().get("/users/{id}")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.then().statusCode(200);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Requests Using External Files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external files?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 reusable JSON payloads are kept in .txt/.json files.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Commons IO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FileUtils.readFileToString() reads file content into a String.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dependency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commons-io to pom.xml to use FileUtils.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test code clean and payloads easy to maintain.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payload file and posting its content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payload = FileUtils.readFileToString(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File("request.txt"), "UTF-8");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given().contentType("application/json").body(payload)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.when().post("/api/users")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.then().statusCode(201);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Path Expressions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Path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syntax for navigating a JSON response to extract specific values.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access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notation reaches nested fields, e.g. data.email.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access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index into arrays, e.g. data[0].id.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.path() inline, or the JsonPath class for reuse.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a nested field from the response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res = get("/api/users/2");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email = res.jsonPath()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.getString("data.email");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System.out.println(email);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</a:t>
            </a:r>
            <a:r>
              <a:rPr lang="en-US" sz="150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class object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(POJO) into JSON for the request body.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Deserialization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JSON response back into a Java object.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 Databind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ObjectMapper handles the conversion automatically.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request/response handling type-safe and readable.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 POJO directly as the request body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 { public String name, job;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u = new User();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u.name = "John"; u.job = "QA";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given().contentType("application/json").body(u)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.when().post("/api/users")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.then().statusCode(201);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Schema Validation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expected structure and data types of a response.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json-schema-validator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dependency that checks a response against a schema file.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structural, contract-breaking changes early.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files are typically kept under src/test/resources.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Asserting the response matches a schema file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.when().get("/api/users/2")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.then().assertThat()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.body(matchesJsonSchemaInClasspath(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"user-schema.json"));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&amp; PATCH Requests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an entire resource with the new payload.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only the specified fields; the rest stay unchanged.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usually address a specific resource via its ID in the URL.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updated field(s) are reflected in the response.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a resource with PUT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given().contentType("application/json")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.body("{ \"name\": \"John Updated\" }")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.when().put("/api/users/2")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.then().statusCode(200)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.body("name", equalTo("John Updated"));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PATCH follows the same pattern via .patch()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DELETE, TestNG Suites &amp; Jenkins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 resource; success is usually 204 No Content.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suite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XML file that groups multiple test classes for organized runs.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plugins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&amp; Surefire plugins compile and run tests in the build lifecycle.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Maven build/test suite automatically as part of CI/CD.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DELETE call, a TestNG suite file, and running 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given().when().delete("/api/users/2")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.then().statusCode(204);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&lt;suite name="Suite"&gt;&lt;test name="API"&gt;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&lt;classes&gt;&lt;class name="tests.UserTests"/&gt;&lt;/classes&gt;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&lt;/test&gt;&lt;/suite&gt;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Run: mvn test   |   or a Jenkins build job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Jenkins CI Integration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Jenkins?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automation server that builds and tests every change.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integrate?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 on every commit or on a schedule — no manual runs.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repo from Git and runs mvn test; Surefire runs testng.xml.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Surefire/TestNG XML results are published as pass/fail history and trend graphs.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a Jenkins Job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Plugins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Maven Integration, Git, and TestNG Results plugins.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Tools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JDK and Maven under Manage Jenkins → Tools.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Create the job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 → Maven project (or Pipeline), then add the Git repository URL.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Build step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POM: pom.xml   •   Goals: clean test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525780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5202936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Triggers &amp; reports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Poll SCM or Build periodically; publish TestNG results post-build.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8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 wiring so Jenkins can run the suite with one Maven goal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pom.xml: Surefire runs the TestNG suite --&gt;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&lt;plugin&gt;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&lt;groupId&gt;org.apache.maven.plugins&lt;/groupId&gt;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&lt;artifactId&gt;maven-surefire-plugin&lt;/artifactId&gt;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&lt;version&gt;3.2.5&lt;/version&gt;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&lt;configuration&gt;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&lt;suiteXmlFiles&gt;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&lt;suiteXmlFile&gt;testng.xml&lt;/suiteXmlFile&gt;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&lt;/suiteXmlFiles&gt;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&lt;/configuration&gt;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&lt;/plugin&gt;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Jenkins Maven job  →  Root POM: pom.xml   |   Goals: clean test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Jenkinsfile that checks out, tests, and publishes results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Jenkinsfile — declarative pipeline, kept in the repo root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{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 any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 { maven 'Maven3'; jdk 'JDK17' }      // names from Manage Jenkins → Tools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triggers { cron('H 2 * * *') }             // nightly run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stages {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stage('Checkout') { steps { git 'https://github.com/&lt;you&gt;/api-tests.git' }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stage('Test')     { steps { sh 'mvn clean test' } }   // bat on Windows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 {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always { junit 'target/surefire-reports/*.xml'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68680" y="3474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F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days • 12 topics • REST Assured mastery</a:t>
            </a:r>
            <a:endParaRPr lang="en-US" sz="1700" dirty="0"/>
          </a:p>
        </p:txBody>
      </p:sp>
      <p:sp>
        <p:nvSpPr>
          <p:cNvPr id="5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3212</Words>
  <Application>Microsoft Macintosh PowerPoint</Application>
  <PresentationFormat>Widescreen</PresentationFormat>
  <Paragraphs>478</Paragraphs>
  <Slides>38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Office</cp:lastModifiedBy>
  <cp:revision>2</cp:revision>
  <dcterms:created xsi:type="dcterms:W3CDTF">2026-09-24T17:57:09Z</dcterms:created>
  <dcterms:modified xsi:type="dcterms:W3CDTF">2026-09-30T11:13:01Z</dcterms:modified>
</cp:coreProperties>
</file>