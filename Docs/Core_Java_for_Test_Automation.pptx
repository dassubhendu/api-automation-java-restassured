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</p:sldIdLst>
  <p:notesMasterIdLst>
    <p:notesMasterId r:id="rId4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notesMaster" Target="notesMasters/notesMaster1.xml"/><Relationship Id="rId50" Type="http://schemas.openxmlformats.org/officeDocument/2006/relationships/presProps" Target="presProps.xml"/><Relationship Id="rId51" Type="http://schemas.openxmlformats.org/officeDocument/2006/relationships/viewProps" Target="viewProps.xml"/><Relationship Id="rId52" Type="http://schemas.openxmlformats.org/officeDocument/2006/relationships/theme" Target="theme/theme1.xml"/><Relationship Id="rId5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7F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509760" y="-1463040"/>
            <a:ext cx="4572000" cy="457200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14884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JAVA FOR TEST AUTOMATION</a:t>
            </a:r>
            <a:endParaRPr lang="en-US" sz="44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0632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basics to the Collections Framework — with examples for GUI (Selenium) &amp; API (REST Assured) testing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8680" y="3794760"/>
            <a:ext cx="2011680" cy="0"/>
          </a:xfrm>
          <a:prstGeom prst="line">
            <a:avLst/>
          </a:prstGeom>
          <a:noFill/>
          <a:ln w="38100">
            <a:solidFill>
              <a:srgbClr val="6FD3C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6868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spc="100" kern="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Basics  •  OOP  •  Exceptions  •  Collections  •  Java 8 Streams  •  Selenium  •  REST Assured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225296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2252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Course Roadmap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sections — each concept is paired with an automation example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2103120" cy="4297680"/>
          </a:xfrm>
          <a:prstGeom prst="roundRect">
            <a:avLst>
              <a:gd name="adj" fmla="val 3478"/>
            </a:avLst>
          </a:prstGeom>
          <a:solidFill>
            <a:srgbClr val="DDEAF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85800" y="21031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8"/>
          <p:cNvSpPr txBox="1"/>
          <p:nvPr/>
        </p:nvSpPr>
        <p:spPr>
          <a:xfrm>
            <a:off x="685800" y="2880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 Fundamentals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65760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/ JRE / JVM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&amp; data types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Operators &amp; control flow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Loops, arrays, strings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743200" y="1920240"/>
            <a:ext cx="2103120" cy="4297680"/>
          </a:xfrm>
          <a:prstGeom prst="roundRect">
            <a:avLst>
              <a:gd name="adj" fmla="val 3478"/>
            </a:avLst>
          </a:prstGeom>
          <a:solidFill>
            <a:srgbClr val="EEF4F7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2971800" y="21031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2971800" y="2880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Object-Oriented Programming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2971800" y="365760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&amp; objects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Polymorphism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Abstraction &amp; keywords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029200" y="1920240"/>
            <a:ext cx="2103120" cy="4297680"/>
          </a:xfrm>
          <a:prstGeom prst="roundRect">
            <a:avLst>
              <a:gd name="adj" fmla="val 3478"/>
            </a:avLst>
          </a:prstGeom>
          <a:solidFill>
            <a:srgbClr val="DDEAF0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257800" y="21031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5257800" y="2880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Exceptions &amp; Utilities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5257800" y="365760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hierarchy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 classes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&amp; properties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7315200" y="1920240"/>
            <a:ext cx="2103120" cy="4297680"/>
          </a:xfrm>
          <a:prstGeom prst="roundRect">
            <a:avLst>
              <a:gd name="adj" fmla="val 3478"/>
            </a:avLst>
          </a:prstGeom>
          <a:solidFill>
            <a:srgbClr val="EEF4F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543800" y="21031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4000" dirty="0"/>
          </a:p>
        </p:txBody>
      </p:sp>
      <p:sp>
        <p:nvSpPr>
          <p:cNvPr id="22" name="Text 20"/>
          <p:cNvSpPr txBox="1"/>
          <p:nvPr/>
        </p:nvSpPr>
        <p:spPr>
          <a:xfrm>
            <a:off x="7543800" y="2880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Framework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7543800" y="365760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List, Set, Map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Iterating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&amp; Comparator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Generics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601200" y="1920240"/>
            <a:ext cx="2103120" cy="4297680"/>
          </a:xfrm>
          <a:prstGeom prst="roundRect">
            <a:avLst>
              <a:gd name="adj" fmla="val 3478"/>
            </a:avLst>
          </a:prstGeom>
          <a:solidFill>
            <a:srgbClr val="DDEAF0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829800" y="21031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C729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4000" dirty="0"/>
          </a:p>
        </p:txBody>
      </p:sp>
      <p:sp>
        <p:nvSpPr>
          <p:cNvPr id="26" name="Text 24"/>
          <p:cNvSpPr txBox="1"/>
          <p:nvPr/>
        </p:nvSpPr>
        <p:spPr>
          <a:xfrm>
            <a:off x="9829800" y="2880360"/>
            <a:ext cx="1737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 8 &amp; Automation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829800" y="3657600"/>
            <a:ext cx="1737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API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in Java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Assured in Java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practices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005840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005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Java for Test Automation?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language that covers UI, API, mobile and CI pipelines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647188" cy="2240280"/>
          </a:xfrm>
          <a:prstGeom prst="roundRect">
            <a:avLst>
              <a:gd name="adj" fmla="val 3265"/>
            </a:avLst>
          </a:prstGeom>
          <a:solidFill>
            <a:srgbClr val="EE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Selenium &amp; Appium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97480"/>
            <a:ext cx="21899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Java bindings for browser (GUI) and mobile automation; most examples and docs are in Java.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3332988" y="1874520"/>
            <a:ext cx="2647188" cy="2240280"/>
          </a:xfrm>
          <a:prstGeom prst="roundRect">
            <a:avLst>
              <a:gd name="adj" fmla="val 3265"/>
            </a:avLst>
          </a:prstGeom>
          <a:solidFill>
            <a:srgbClr val="EE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3561588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6158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155948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REST Assured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61588" y="2697480"/>
            <a:ext cx="21899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Java DSL for API testing with a readable given() / when() / then() syntax.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08776" y="1874520"/>
            <a:ext cx="2647188" cy="2240280"/>
          </a:xfrm>
          <a:prstGeom prst="roundRect">
            <a:avLst>
              <a:gd name="adj" fmla="val 3265"/>
            </a:avLst>
          </a:prstGeom>
          <a:solidFill>
            <a:srgbClr val="EE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437376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3737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31736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Rich Ecosystem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6437376" y="2697480"/>
            <a:ext cx="21899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TestNG, JUnit, Maven, Gradle, Cucumber, Extent Reports, Log4j — all built for Java.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084564" y="1874520"/>
            <a:ext cx="2647188" cy="2240280"/>
          </a:xfrm>
          <a:prstGeom prst="roundRect">
            <a:avLst>
              <a:gd name="adj" fmla="val 3265"/>
            </a:avLst>
          </a:prstGeom>
          <a:solidFill>
            <a:srgbClr val="EEF4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313164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131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907524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Industry Demand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9313164" y="2697480"/>
            <a:ext cx="218998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+ Selenium remains one of the most requested skill sets in QA automation roles.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457200" y="461772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Typical automation toolchain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457200" y="5074920"/>
            <a:ext cx="1600200" cy="548640"/>
          </a:xfrm>
          <a:prstGeom prst="roundRect">
            <a:avLst>
              <a:gd name="adj" fmla="val 10000"/>
            </a:avLst>
          </a:prstGeom>
          <a:solidFill>
            <a:srgbClr val="21295C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45720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112264" y="5230368"/>
            <a:ext cx="224942" cy="237744"/>
          </a:xfrm>
          <a:prstGeom prst="rightArrow">
            <a:avLst/>
          </a:prstGeom>
          <a:solidFill>
            <a:srgbClr val="9FB4C7"/>
          </a:solidFill>
          <a:ln/>
        </p:spPr>
      </p:sp>
      <p:sp>
        <p:nvSpPr>
          <p:cNvPr id="32" name="Shape 30"/>
          <p:cNvSpPr/>
          <p:nvPr/>
        </p:nvSpPr>
        <p:spPr>
          <a:xfrm>
            <a:off x="2392070" y="5074920"/>
            <a:ext cx="160020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2392070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/ REST Assured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047134" y="5230368"/>
            <a:ext cx="224942" cy="237744"/>
          </a:xfrm>
          <a:prstGeom prst="rightArrow">
            <a:avLst/>
          </a:prstGeom>
          <a:solidFill>
            <a:srgbClr val="9FB4C7"/>
          </a:solidFill>
          <a:ln/>
        </p:spPr>
      </p:sp>
      <p:sp>
        <p:nvSpPr>
          <p:cNvPr id="35" name="Shape 33"/>
          <p:cNvSpPr/>
          <p:nvPr/>
        </p:nvSpPr>
        <p:spPr>
          <a:xfrm>
            <a:off x="4326941" y="5074920"/>
            <a:ext cx="160020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4326941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TestNG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5982005" y="5230368"/>
            <a:ext cx="224942" cy="237744"/>
          </a:xfrm>
          <a:prstGeom prst="rightArrow">
            <a:avLst/>
          </a:prstGeom>
          <a:solidFill>
            <a:srgbClr val="9FB4C7"/>
          </a:solidFill>
          <a:ln/>
        </p:spPr>
      </p:sp>
      <p:sp>
        <p:nvSpPr>
          <p:cNvPr id="38" name="Shape 36"/>
          <p:cNvSpPr/>
          <p:nvPr/>
        </p:nvSpPr>
        <p:spPr>
          <a:xfrm>
            <a:off x="6261811" y="5074920"/>
            <a:ext cx="160020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261811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Maven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7916875" y="5230368"/>
            <a:ext cx="224942" cy="237744"/>
          </a:xfrm>
          <a:prstGeom prst="rightArrow">
            <a:avLst/>
          </a:prstGeom>
          <a:solidFill>
            <a:srgbClr val="9FB4C7"/>
          </a:solidFill>
          <a:ln/>
        </p:spPr>
      </p:sp>
      <p:sp>
        <p:nvSpPr>
          <p:cNvPr id="41" name="Shape 39"/>
          <p:cNvSpPr/>
          <p:nvPr/>
        </p:nvSpPr>
        <p:spPr>
          <a:xfrm>
            <a:off x="8196682" y="5074920"/>
            <a:ext cx="160020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196682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9851746" y="5230368"/>
            <a:ext cx="224942" cy="237744"/>
          </a:xfrm>
          <a:prstGeom prst="rightArrow">
            <a:avLst/>
          </a:prstGeom>
          <a:solidFill>
            <a:srgbClr val="9FB4C7"/>
          </a:solidFill>
          <a:ln/>
        </p:spPr>
      </p:sp>
      <p:sp>
        <p:nvSpPr>
          <p:cNvPr id="44" name="Shape 42"/>
          <p:cNvSpPr/>
          <p:nvPr/>
        </p:nvSpPr>
        <p:spPr>
          <a:xfrm>
            <a:off x="10131552" y="5074920"/>
            <a:ext cx="1600200" cy="548640"/>
          </a:xfrm>
          <a:prstGeom prst="roundRect">
            <a:avLst>
              <a:gd name="adj" fmla="val 10000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45" name="Text 43"/>
          <p:cNvSpPr txBox="1"/>
          <p:nvPr/>
        </p:nvSpPr>
        <p:spPr>
          <a:xfrm>
            <a:off x="10131552" y="5074920"/>
            <a:ext cx="1600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Jenkins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7F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503920" y="-1463040"/>
            <a:ext cx="4754880" cy="47548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0" y="9144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244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 Fundamentals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building blocks every automation script is made of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069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/ JRE / JVM   •   Program structure   •   Variables &amp; data types   •   Operators   •   Control flow   •   Loops   •   Arrays   •   Strings   •   Methods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JDK vs JRE vs JVM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your test code turns into something the machine can run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5577840" cy="4389120"/>
          </a:xfrm>
          <a:prstGeom prst="roundRect">
            <a:avLst>
              <a:gd name="adj" fmla="val 2083"/>
            </a:avLst>
          </a:prstGeom>
          <a:solidFill>
            <a:srgbClr val="EEF4F7"/>
          </a:solidFill>
          <a:ln w="19050">
            <a:solidFill>
              <a:srgbClr val="1C7293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85800" y="1965960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 — Java Development Kit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JRE + tools: javac compiler, debugger, jar, javadoc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777240" y="2788920"/>
            <a:ext cx="4937760" cy="3246120"/>
          </a:xfrm>
          <a:prstGeom prst="roundRect">
            <a:avLst>
              <a:gd name="adj" fmla="val 2817"/>
            </a:avLst>
          </a:prstGeom>
          <a:solidFill>
            <a:srgbClr val="DDEAF0"/>
          </a:solidFill>
          <a:ln w="12700">
            <a:solidFill>
              <a:srgbClr val="1C7293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05840" y="28803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JRE — Java Runtime Environment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+ core libraries (java.lang, java.util, java.io …)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1097280" y="3749040"/>
            <a:ext cx="4297680" cy="2011680"/>
          </a:xfrm>
          <a:prstGeom prst="roundRect">
            <a:avLst>
              <a:gd name="adj" fmla="val 4545"/>
            </a:avLst>
          </a:prstGeom>
          <a:solidFill>
            <a:srgbClr val="21295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1325880" y="3886200"/>
            <a:ext cx="3840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JVM — Java Virtual Machine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Loads and executes bytecode, manages memory and garbage collection. A different JVM exists for each OS.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6492240" y="1874520"/>
            <a:ext cx="523951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675120" y="1874520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LoginTest.java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Source code you write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961120" y="2569464"/>
            <a:ext cx="274320" cy="201168"/>
          </a:xfrm>
          <a:prstGeom prst="downArrow">
            <a:avLst/>
          </a:prstGeom>
          <a:solidFill>
            <a:srgbClr val="9FB4C7"/>
          </a:solidFill>
          <a:ln/>
        </p:spPr>
      </p:sp>
      <p:sp>
        <p:nvSpPr>
          <p:cNvPr id="17" name="Shape 15"/>
          <p:cNvSpPr/>
          <p:nvPr/>
        </p:nvSpPr>
        <p:spPr>
          <a:xfrm>
            <a:off x="6492240" y="2807208"/>
            <a:ext cx="523951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675120" y="2807208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javac LoginTest.java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Compiler (part of the JDK)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961120" y="3502152"/>
            <a:ext cx="274320" cy="201168"/>
          </a:xfrm>
          <a:prstGeom prst="downArrow">
            <a:avLst/>
          </a:prstGeom>
          <a:solidFill>
            <a:srgbClr val="9FB4C7"/>
          </a:solidFill>
          <a:ln/>
        </p:spPr>
      </p:sp>
      <p:sp>
        <p:nvSpPr>
          <p:cNvPr id="20" name="Shape 18"/>
          <p:cNvSpPr/>
          <p:nvPr/>
        </p:nvSpPr>
        <p:spPr>
          <a:xfrm>
            <a:off x="6492240" y="3739896"/>
            <a:ext cx="5239512" cy="658368"/>
          </a:xfrm>
          <a:prstGeom prst="roundRect">
            <a:avLst>
              <a:gd name="adj" fmla="val 8333"/>
            </a:avLst>
          </a:prstGeom>
          <a:solidFill>
            <a:srgbClr val="FFFFFF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75120" y="3739896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LoginTest.class</a:t>
            </a:r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Platform-independent bytecode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8961120" y="4434840"/>
            <a:ext cx="274320" cy="201168"/>
          </a:xfrm>
          <a:prstGeom prst="downArrow">
            <a:avLst/>
          </a:prstGeom>
          <a:solidFill>
            <a:srgbClr val="9FB4C7"/>
          </a:solidFill>
          <a:ln/>
        </p:spPr>
      </p:sp>
      <p:sp>
        <p:nvSpPr>
          <p:cNvPr id="23" name="Shape 21"/>
          <p:cNvSpPr/>
          <p:nvPr/>
        </p:nvSpPr>
        <p:spPr>
          <a:xfrm>
            <a:off x="6492240" y="4672584"/>
            <a:ext cx="5239512" cy="658368"/>
          </a:xfrm>
          <a:prstGeom prst="roundRect">
            <a:avLst>
              <a:gd name="adj" fmla="val 8333"/>
            </a:avLst>
          </a:prstGeom>
          <a:solidFill>
            <a:srgbClr val="21295C"/>
          </a:solidFill>
          <a:ln w="12700">
            <a:solidFill>
              <a:srgbClr val="21295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675120" y="4672584"/>
            <a:ext cx="4937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java LoginTest</a:t>
            </a:r>
            <a:pPr indent="0" marL="0">
              <a:buNone/>
            </a:pPr>
            <a:r>
              <a:rPr lang="en-US" sz="1200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JVM runs it on Windows, macOS, Linux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6492240" y="5669280"/>
            <a:ext cx="523951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Setup: </a:t>
            </a:r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JDK 17+, set JAVA_HOME, verify with java -version, then install IntelliJ IDEA.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Structure of a Java Program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Java file follows the same skeleton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Groups related classes into folders, e.g. com.training.tests.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blueprint; all code lives inside a class. The file name must match the public class name.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main() method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of a plain Java program: public static void main(String[] args).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&amp; blocks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Statements end with ; and blocks are wrapped in { }. Java is case-sensitive.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Comments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// single line, /* multi-line */ and /** Javadoc */.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package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com.training.basics;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com/training/basics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import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java.time.LocalDate;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from another package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/**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Javadoc: my first Java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 File name must be HelloAutomation.java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*/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HelloAutomation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Entry point: the JVM starts here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main(String[] args)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"Hello, Automation!"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"Today is 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LocalDate.now());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Output: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Hello, Automation!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Today is 2026-09-27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Types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primitive types store simple values; everything else is a non-primitive (reference) type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05840"/>
                <a:gridCol w="1005840"/>
                <a:gridCol w="3931920"/>
                <a:gridCol w="41422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Size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Example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 use in automation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byte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byte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byte flag = 1;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Raw file / stream data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short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bytes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 port = 8080;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 numeric ranges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int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bytes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timeout = 30;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Waits, counts, status codes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long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bytes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long start = System.currentTimeMillis();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Timestamps, response times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float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bytes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float rating = 4.5f;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Decimal values (less precise)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double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bytes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double price = 1999.99;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Prices, totals in cart checks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char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bytes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'\u0000'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char grade = 'A';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 characters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boolean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bit*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boolean isDisplayed = true;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 visible? Test passed?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String</a:t>
                      </a:r>
                      <a:endParaRPr lang="en-US" sz="13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object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String url = "https://reqres.in";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Non-primitive: URLs, locators, JSON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Variables &amp; Type Casting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a variable is declared decides who can see it and how long it lives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Declared inside a method; must be initialized before use.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Instance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 to an object; each object gets its own copy.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copy shared by all objects of the class (e.g. a shared base URL).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Constant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final, named in UPPER_SNAKE_CASE; cannot be reassigned.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casting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Widening (int → double) is automatic; narrowing (double → int) needs an explicit cast.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TestConfig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constant: shared and cannot change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BASE_URL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"https://reqres.in"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testCount = 0;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static: one copy for all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browser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"chrome"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instance: one per object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run()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retries = 3;     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local: only inside run()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testCount++;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System.out.println(browser +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run #"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testCount);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Type casting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seconds = 10;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 = seconds;      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widening: 10.0 (automatic)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price = 99.78;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rounded = 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price;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narrowing: 99 (explicit cast)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list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java.util.ArrayList&lt;String&gt;();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Java 10+ var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Operators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Calculate, compare and combine conditions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 -  *  /  %  (modulus gives the remainder).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==  !=  &gt;  &lt;  &gt;=  &lt;=  always return a boolean.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Logical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&amp;&amp; (AND), || (OR), ! (NOT) to combine conditions.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Assignment &amp; unary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 +=  -=  *=  and  ++  -- to increment or decrement.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Ternary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 ? valueIfTrue : valueIfFalse, a one-line if-else.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passed = 18, total = 20;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rate = passed * 100.0 / total;    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90.0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remainder = 17 % 5;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allPassed = passed == total;     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false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goodRun = rate &gt;= 80 &amp;&amp; !allPassed;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status = rate &gt;= 80 ?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"PASS"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"FAIL"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PASS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passed++;         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19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total += 5;       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25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Careful: == compares object references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a =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"Login"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 = 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String(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"Login"</a:t>
            </a:r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System.out.println(a == b);              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false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System.out.println(a.equals(b));            </a:t>
            </a:r>
            <a:pPr indent="0" marL="0">
              <a:lnSpc>
                <a:spcPct val="110000"/>
              </a:lnSpc>
              <a:buNone/>
            </a:pPr>
            <a:r>
              <a:rPr lang="en-US" sz="12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  &lt;- use this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 Flow: if-else &amp; switch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decisions based on conditions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/ else if / else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 block only when its boolean condition is true.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Nested conditions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with &amp;&amp; and || instead of nesting too deeply.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Picks one branch from many values (int, String, enum).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Exits the switch; without it execution falls through to the next case.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a browser, branch on environment, classify status codes.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statusCode = 404;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(statusCode &gt;= 200 &amp;&amp; statusCode &lt; 300)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"Success"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(statusCode &gt;= 400 &amp;&amp; statusCode &lt; 500)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"Client error"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printed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"Server error"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browser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"firefox"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(browser)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"chrome"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ChromeDriver();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"firefox"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FirefoxDriver(); 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chosen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IllegalArgumentException(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"Unknown: 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browser);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Loops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actions without repeating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when the number of iterations is known.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while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Repeats while a condition is true, e.g. polling until ready.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do-while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 while, but the body always runs at least once.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for-each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way to walk through arrays and collections.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/ continue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break exits the loop; continue skips to the next iteration.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1; i &lt;= 3; i++)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"Attempt 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i);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retries = 0;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loaded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(!loaded &amp;&amp; retries &lt; 3) {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retry a flaky step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loaded = page.isLoaded();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retries++;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"Runs at least once"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String[] pages = {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"Home"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"Cart"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"Checkout"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(String p : pages)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(p.equals(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"Cart"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skip Cart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"Testing 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p);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Arrays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fixed-size container of values of the same type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size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length is set on creation and cannot grow.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Zero-indexed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element is [0]; the last is [length - 1].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int[5] creates defaults; {…} creates with values.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2D arrays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Rows × columns. TestNG @DataProvider returns Object[][] test data.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the size changes at runtime, use an ArrayList instead.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String[] browsers = {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"chrome"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"firefox"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"edge"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System.out.println(browsers[0]);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chrome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System.out.println(browsers.length);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[] scores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[3];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{0, 0, 0}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scores[1] = 90;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Arrays.sort(browsers);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System.out.println(Arrays.toString(browsers));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[chrome, edge, firefox]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2D array: TestNG data-driven test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@DataProvider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(name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"loginData"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Object[][] loginData()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Object[][]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"admin"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"admin123"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},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{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"guest"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"wrongPass"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(dataProvider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"loginData"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login(String user, String pass,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ok) { }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Strings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used type in automation: locators, URLs, messages and JSON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Immutable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returns a new String; the original never changes.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pool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Literals are reused; new String("x") always creates a new object.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equals() / equalsIgnoreCase() for content, never ==.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methods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trim, contains, split, replace, substring, startsWith, length.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StringBuilder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Mutable and fast; use it to build strings inside loops.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raw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 Welcome, John | Dashboard  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t = raw.trim();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"Welcome, John | Dashboard"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t.length();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25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t.contains(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"Dashboard"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t.startsWith(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"Welcome"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t.toUpperCase();  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"WELCOME, JOHN | DASHBOARD"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t.split(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"\\|"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)[0].trim();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"Welcome, John"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t.substring(9, 13);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"John"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t.replace(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"John"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"Jane"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"Welcome, Jane | Dashboard"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.equalsIgnoreCase(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Clean UI text before comparing numbers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priceText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"$1,299.00"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clean = priceText.replaceAll(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"[$,]"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"1299.00"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price = Double.parseDouble(clean);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1299.0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StringBuilder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StringBuilder sb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StringBuilder(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"Test"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sb.append(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"-"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).append(101);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Test-101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sb.reverse();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101-tseT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BASICS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Methods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blocks of code: the heart of a clean framework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Signature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modifier + return type + name + (parameters).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type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void returns nothing; otherwise use return with a value.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vs instance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methods are called on the class; instance methods need an object.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Overloading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name, different parameter list.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 repeated steps: login(), getToken(), waitAndClick().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Utils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static: call as Utils.add(2, 3)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 + b;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instance method: needs an object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buildUrl(String base, String path)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base + path;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overloading: same name, different parameters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waitFor(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seconds) {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waitFor(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seconds, String reason)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"Waiting 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seconds +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"s: 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reason);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sum = Utils.add(2, 3);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Utils u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Utils();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url = u.buildUrl(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"https://reqres.in"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"/api/users"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7F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503920" y="-1463040"/>
            <a:ext cx="4754880" cy="47548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0" y="9144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244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Object-Oriented Programming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frameworks like Page Object Model are designed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069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pillars   •   Class &amp; object   •   Constructors   •   Encapsulation   •   Inheritance   •   Polymorphism   •   Abstraction   •   Keywords &amp; access modifiers   •   Packages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Four Pillars of OOP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pillar maps directly to a pattern you will use in automation frameworks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5522976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075688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Encapsulation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97480"/>
            <a:ext cx="50657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data behind private fields and expose it through methods.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automation: Page Objects keep locators private; POJOs wrap API payloads.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208776" y="1874520"/>
            <a:ext cx="5522976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6437376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43737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31736" y="2075688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Inheritance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437376" y="2697480"/>
            <a:ext cx="50657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child class reuses the fields and methods of a parent class.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automation: every test class extends a BaseTest that opens and closes the browser.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457200" y="4183380"/>
            <a:ext cx="5522976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85800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85800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4384548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Polymorphism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5006340"/>
            <a:ext cx="50657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reference, many forms: overloading and overriding.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automation: WebDriver driver = new ChromeDriver() or new FirefoxDriver().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208776" y="4183380"/>
            <a:ext cx="5522976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437376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437376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7031736" y="4384548"/>
            <a:ext cx="45171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Abstraction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37376" y="5006340"/>
            <a:ext cx="5065776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Expose what an object does, hide how it does it.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automation: WebDriver is an interface; each browser driver implements it.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Class, Object &amp; Constructor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class is the blueprint; objects are the real things built from it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Defines fields (state) and methods (behaviour).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instance of a class, created with the new keyword.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name as the class, no return type; initializes the object.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Default vs parameterized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adds a no-arg constructor only if you write none.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Refers to the current object; this(...) calls another constructor.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name;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job;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User() {    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default constructor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"Guest"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"Viewer"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calls the other one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User(String name, String job) {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parameterized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.name = name;  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this.field = param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.job = job;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display()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System.out.println(name +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- 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job);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u1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User();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 1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u2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"John"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"QA"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 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u1.display();   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Guest - Viewer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u2.display();   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John - QA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Encapsulation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 data, public methods: the basis of POJOs and Page Objects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data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fields private so they cannot be changed directly.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Getters &amp; setters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methods to read and update the fields.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Setters can reject bad values before they are stored.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testing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POJOs are serialized to JSON request bodies by REST Assured (Jackson).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 testing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 Objects keep locators private and expose actions only.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Employee {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POJO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name;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age;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getName() {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name;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setName(String name) {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.name = name;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getAge() {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age;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setAge(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age)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(age &lt; 18)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IllegalArgumentException(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"Too young"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.age = age;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Employee e =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Employee();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e.setName(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"John"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e.setAge(30);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e.age = -5;                  // compile error: private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REST Assured turns the POJO into JSON automatically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given().contentType(ContentType.JSON).body(e)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.when().post(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"/api/users"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.then().statusCode(201);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Inheritance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common setup once in a parent class and reuse it everywhere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child class inherits the fields and methods of its parent.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Single, multilevel, hierarchical. A class can extend only one class.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parent constructor or a parent method.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Overriding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child redefines a parent method using @Override.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BaseTest opens and closes the browser; each test class extends it.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BaseTest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WebDriver driver;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@BeforeMethod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setUp()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ChromeDriver();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driver.manage().window().maximize();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@AfterMethod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tearDown()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driver.quit();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LoginTest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BaseTest {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inherits driver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validLogin()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driver.get(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"https://example.com/login"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setUp() and tearDown() run automatically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Polymorphism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name, many forms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overloading, resolved by the parameter list.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overriding, resolved by the actual object type.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Upcasting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parent reference can hold a child object.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Cross-browser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WebDriver driver = new ChromeDriver() lets the same test run on any browser.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Compile-time: overloading (Selenium uses it too)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 actions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Actions(driver);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actions.click().perform();     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current mouse position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actions.click(element).perform();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 a given element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Runtime: overriding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Page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title() {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"Generic page"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}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LoginPage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Page {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title() {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}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Page p =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LoginPage();      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parent ref, child object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System.out.println(p.title()); 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Login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Same test code, any browser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WebDriver driver = browser.equals(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"chrome"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?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ChromeDriver()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: 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FirefoxDriver();</a:t>
            </a:r>
            <a:endParaRPr lang="en-US" sz="11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Abstraction: Abstract Class &amp; Interface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what must be done; let subclasses decide how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 mix abstract and concrete methods, fields and constructors. A class extends only one.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contract of methods. A class can implement many interfaces.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8+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Interfaces may also have default and static methods.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Selenium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WebDriver, WebElement and TakesScreenshot are interfaces; ChromeDriver implements them.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interface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Reportable {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contract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log(String msg);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default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pass() { log(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"PASS"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} 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Java 8 default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BasePage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implements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Reportable {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protected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WebDriver driver;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BasePage(WebDriver driver) {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.driver = driver; }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abstract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isLoaded();          </a:t>
            </a:r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child must implement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log(String msg) { System.out.println(msg); }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HomePage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BasePage {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HomePage(WebDriver driver) {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(driver); }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@Override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isLoaded() {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driver.getTitle().contains(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"Home"</a:t>
            </a:r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Selenium: casting to an interface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TakesScreenshot ts = (TakesScreenshot) driver;</a:t>
            </a:r>
            <a:endParaRPr lang="en-US" sz="10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File shot = ts.getScreenshotAs(OutputType.FILE);</a:t>
            </a:r>
            <a:endParaRPr lang="en-US" sz="10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 Modifiers &amp; Key Keywords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visibility and behaviour of classes, fields and methods</a:t>
            </a:r>
            <a:endParaRPr lang="en-US" sz="15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566928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51560"/>
                <a:gridCol w="1051560"/>
                <a:gridCol w="1051560"/>
                <a:gridCol w="1051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Modifier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Package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Anywhere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public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protected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default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private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E8B5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✓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B041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✗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457200" y="4434840"/>
            <a:ext cx="5669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 of thumb: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private, helper methods protected in a BaseTest, page actions and tests public.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492240" y="1920240"/>
            <a:ext cx="5239512" cy="960120"/>
          </a:xfrm>
          <a:prstGeom prst="roundRect">
            <a:avLst>
              <a:gd name="adj" fmla="val 5714"/>
            </a:avLst>
          </a:prstGeom>
          <a:solidFill>
            <a:srgbClr val="EEF4F7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6675120" y="1920240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772400" y="192024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Belongs to the class, not objects.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 WebDriver driver;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6492240" y="3008376"/>
            <a:ext cx="5239512" cy="960120"/>
          </a:xfrm>
          <a:prstGeom prst="roundRect">
            <a:avLst>
              <a:gd name="adj" fmla="val 5714"/>
            </a:avLst>
          </a:prstGeom>
          <a:solidFill>
            <a:srgbClr val="EEF4F7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675120" y="3008376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3008376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 cannot change, method cannot be overridden, class cannot be extended.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 int TIMEOUT = 10;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6492240" y="4096512"/>
            <a:ext cx="5239512" cy="960120"/>
          </a:xfrm>
          <a:prstGeom prst="roundRect">
            <a:avLst>
              <a:gd name="adj" fmla="val 5714"/>
            </a:avLst>
          </a:prstGeom>
          <a:solidFill>
            <a:srgbClr val="EEF4F7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675120" y="4096512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7772400" y="4096512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current object; resolves field vs parameter names.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this.driver = driver;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6492240" y="5184648"/>
            <a:ext cx="5239512" cy="960120"/>
          </a:xfrm>
          <a:prstGeom prst="roundRect">
            <a:avLst>
              <a:gd name="adj" fmla="val 5714"/>
            </a:avLst>
          </a:prstGeom>
          <a:solidFill>
            <a:srgbClr val="EEF4F7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675120" y="5184648"/>
            <a:ext cx="1097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729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endParaRPr lang="en-US" sz="1600" dirty="0"/>
          </a:p>
        </p:txBody>
      </p:sp>
      <p:sp>
        <p:nvSpPr>
          <p:cNvPr id="21" name="Text 18"/>
          <p:cNvSpPr txBox="1"/>
          <p:nvPr/>
        </p:nvSpPr>
        <p:spPr>
          <a:xfrm>
            <a:off x="7772400" y="5184648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the parent class constructor or method.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super(driver);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OOP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Packages &amp; Framework Structure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Organize classes the way a real automation project is laid out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namespace and folder that groups related classes.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 class from another package: import org.openqa.selenium.By;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src/main vs src/test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Reusable framework code vs test classes (Maven convention).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files, test data and JSON schemas live under src/test/resources.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automation-framework/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pom.xml                       # Maven dependencies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testng.xml                    # suite definition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src/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├── main/java/com/company/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base/BaseTest.java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pages/LoginPage.java      # Page Objects (GUI)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api/UserClient.java       # API helpers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├── pojo/User.java            # request/response models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│   └── utils/ConfigReader.java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└── test/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├── java/com/company/tests/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├── ui/LoginTest.java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│   └── api/UserApiTest.java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└── resources/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├── config.properties</a:t>
            </a:r>
            <a:endParaRPr lang="en-US" sz="12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└── schemas/user-schema.json</a:t>
            </a:r>
            <a:endParaRPr lang="en-US" sz="12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7F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503920" y="-1463040"/>
            <a:ext cx="4754880" cy="47548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0" y="9144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244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03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Exceptions &amp; Utilities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robust tests that fail with clear reasons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069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handling   •   Exception hierarchy   •   Custom exceptions   •   Wrapper classes   •   Enums   •   Files &amp; properties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 Handling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failures gracefully and always clean up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event that breaks the normal flow of a program.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/ catch / finally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risky code, handle the failure, always run cleanup.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vs throws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 raises an exception; throws declares it on a method.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exception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RuntimeException for clear framework errors.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Don’t swallow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catch hides real failures; log and rethrow if unsure.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isElementPresent(By locator)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driver.findElement(locator);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(NoSuchElementException e)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"Not found: 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locator);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finally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"Check completed"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always runs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throws: the caller must handle the checked exception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readFile(String path)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IOException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Files.readString(Path.of(path));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custom exception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FrameworkException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RuntimeException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FrameworkException(String msg) {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super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(msg); 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FrameworkException(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"config.properties not found"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Exception Hierarchy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exceptions must be handled at compile time; unchecked ones surface at runtime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074920" y="1874520"/>
            <a:ext cx="2011680" cy="438912"/>
          </a:xfrm>
          <a:prstGeom prst="roundRect">
            <a:avLst>
              <a:gd name="adj" fmla="val 12500"/>
            </a:avLst>
          </a:prstGeom>
          <a:solidFill>
            <a:srgbClr val="21295C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074920" y="187452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Throwable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2377440" cy="438912"/>
          </a:xfrm>
          <a:prstGeom prst="roundRect">
            <a:avLst>
              <a:gd name="adj" fmla="val 12500"/>
            </a:avLst>
          </a:prstGeom>
          <a:solidFill>
            <a:srgbClr val="7A8790"/>
          </a:solidFill>
          <a:ln w="15875">
            <a:solidFill>
              <a:srgbClr val="7A8790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57200" y="2606040"/>
            <a:ext cx="23774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74920" y="2606040"/>
            <a:ext cx="2011680" cy="438912"/>
          </a:xfrm>
          <a:prstGeom prst="roundRect">
            <a:avLst>
              <a:gd name="adj" fmla="val 12500"/>
            </a:avLst>
          </a:prstGeom>
          <a:solidFill>
            <a:srgbClr val="21295C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74920" y="2606040"/>
            <a:ext cx="20116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Exception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2313432"/>
            <a:ext cx="914" cy="14630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645920" y="2459736"/>
            <a:ext cx="443484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645920" y="2459736"/>
            <a:ext cx="914" cy="14630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080760" y="2459736"/>
            <a:ext cx="914" cy="14630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91840" y="3337560"/>
            <a:ext cx="2560320" cy="438912"/>
          </a:xfrm>
          <a:prstGeom prst="roundRect">
            <a:avLst>
              <a:gd name="adj" fmla="val 12500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3291840" y="33375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(compile time)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3337560"/>
            <a:ext cx="2560320" cy="438912"/>
          </a:xfrm>
          <a:prstGeom prst="roundRect">
            <a:avLst>
              <a:gd name="adj" fmla="val 12500"/>
            </a:avLst>
          </a:prstGeom>
          <a:solidFill>
            <a:srgbClr val="21295C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126480" y="3337560"/>
            <a:ext cx="25603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RuntimeException (unchecked)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8961120" y="3337560"/>
            <a:ext cx="2770632" cy="438912"/>
          </a:xfrm>
          <a:prstGeom prst="roundRect">
            <a:avLst>
              <a:gd name="adj" fmla="val 12500"/>
            </a:avLst>
          </a:prstGeom>
          <a:solidFill>
            <a:srgbClr val="C98A2B"/>
          </a:solidFill>
          <a:ln w="15875">
            <a:solidFill>
              <a:srgbClr val="C98A2B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961120" y="3337560"/>
            <a:ext cx="27706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WebDriverException (Selenium)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6080760" y="3044952"/>
            <a:ext cx="914" cy="14630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0" y="3191256"/>
            <a:ext cx="283464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572000" y="3191256"/>
            <a:ext cx="914" cy="14630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7406640" y="3191256"/>
            <a:ext cx="914" cy="14630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8686800" y="3557016"/>
            <a:ext cx="27432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886968" y="333756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86968" y="33375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OutOfMemoryError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658368" y="352958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886968" y="38404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86968" y="38404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StackOverflowError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58368" y="40325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658368" y="3044952"/>
            <a:ext cx="914" cy="987552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721608" y="40690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3721608" y="40690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IOException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3493008" y="42611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1608" y="457200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3721608" y="45720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FileNotFoundException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493008" y="476402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721608" y="507492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43" name="Text 41"/>
          <p:cNvSpPr txBox="1"/>
          <p:nvPr/>
        </p:nvSpPr>
        <p:spPr>
          <a:xfrm>
            <a:off x="3721608" y="5074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SQLException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493008" y="526694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721608" y="557784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3721608" y="55778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InterruptedException</a:t>
            </a:r>
            <a:endParaRPr lang="en-US" sz="1200" dirty="0"/>
          </a:p>
        </p:txBody>
      </p:sp>
      <p:sp>
        <p:nvSpPr>
          <p:cNvPr id="47" name="Shape 45"/>
          <p:cNvSpPr/>
          <p:nvPr/>
        </p:nvSpPr>
        <p:spPr>
          <a:xfrm>
            <a:off x="3493008" y="576986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3493008" y="3776472"/>
            <a:ext cx="914" cy="1993392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556248" y="40690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50" name="Text 48"/>
          <p:cNvSpPr txBox="1"/>
          <p:nvPr/>
        </p:nvSpPr>
        <p:spPr>
          <a:xfrm>
            <a:off x="6556248" y="40690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NullPointerException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327648" y="42611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556248" y="457200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53" name="Text 51"/>
          <p:cNvSpPr txBox="1"/>
          <p:nvPr/>
        </p:nvSpPr>
        <p:spPr>
          <a:xfrm>
            <a:off x="6556248" y="45720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ArithmeticException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6327648" y="476402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6556248" y="507492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6556248" y="5074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ArrayIndexOutOfBounds</a:t>
            </a:r>
            <a:endParaRPr lang="en-US" sz="1200" dirty="0"/>
          </a:p>
        </p:txBody>
      </p:sp>
      <p:sp>
        <p:nvSpPr>
          <p:cNvPr id="57" name="Shape 55"/>
          <p:cNvSpPr/>
          <p:nvPr/>
        </p:nvSpPr>
        <p:spPr>
          <a:xfrm>
            <a:off x="6327648" y="526694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556248" y="557784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6556248" y="55778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NumberFormatException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6327648" y="576986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327648" y="3776472"/>
            <a:ext cx="914" cy="1993392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390888" y="40690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9390888" y="40690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NoSuchElementException</a:t>
            </a:r>
            <a:endParaRPr lang="en-US" sz="1200" dirty="0"/>
          </a:p>
        </p:txBody>
      </p:sp>
      <p:sp>
        <p:nvSpPr>
          <p:cNvPr id="64" name="Shape 62"/>
          <p:cNvSpPr/>
          <p:nvPr/>
        </p:nvSpPr>
        <p:spPr>
          <a:xfrm>
            <a:off x="9162288" y="42611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390888" y="457200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66" name="Text 64"/>
          <p:cNvSpPr txBox="1"/>
          <p:nvPr/>
        </p:nvSpPr>
        <p:spPr>
          <a:xfrm>
            <a:off x="9390888" y="45720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TimeoutException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9162288" y="476402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390888" y="507492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69" name="Text 67"/>
          <p:cNvSpPr txBox="1"/>
          <p:nvPr/>
        </p:nvSpPr>
        <p:spPr>
          <a:xfrm>
            <a:off x="9390888" y="50749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StaleElementReference</a:t>
            </a:r>
            <a:endParaRPr lang="en-US" sz="1200" dirty="0"/>
          </a:p>
        </p:txBody>
      </p:sp>
      <p:sp>
        <p:nvSpPr>
          <p:cNvPr id="70" name="Shape 68"/>
          <p:cNvSpPr/>
          <p:nvPr/>
        </p:nvSpPr>
        <p:spPr>
          <a:xfrm>
            <a:off x="9162288" y="526694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390888" y="557784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EEF4F7"/>
          </a:solidFill>
          <a:ln w="15875">
            <a:solidFill>
              <a:srgbClr val="EEF4F7"/>
            </a:solidFill>
            <a:prstDash val="solid"/>
          </a:ln>
        </p:spPr>
      </p:sp>
      <p:sp>
        <p:nvSpPr>
          <p:cNvPr id="72" name="Text 70"/>
          <p:cNvSpPr txBox="1"/>
          <p:nvPr/>
        </p:nvSpPr>
        <p:spPr>
          <a:xfrm>
            <a:off x="9390888" y="557784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ElementNotInteractable</a:t>
            </a:r>
            <a:endParaRPr lang="en-US" sz="1200" dirty="0"/>
          </a:p>
        </p:txBody>
      </p:sp>
      <p:sp>
        <p:nvSpPr>
          <p:cNvPr id="73" name="Shape 71"/>
          <p:cNvSpPr/>
          <p:nvPr/>
        </p:nvSpPr>
        <p:spPr>
          <a:xfrm>
            <a:off x="9162288" y="576986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162288" y="3776472"/>
            <a:ext cx="914" cy="1993392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457200" y="4480560"/>
            <a:ext cx="2651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JVM problems and should not be caught.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Wrapper Classes &amp; Autoboxing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 versions of primitives, needed for collections and parsing text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Wrappers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→ Integer, double → Double, boolean → Boolean, char → Character.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store objects only: List&lt;Integer&gt;, never List&lt;int&gt;.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Autoboxing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converts between primitive and wrapper automatically.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UI/API text into numbers: Integer.parseInt("3").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 out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Unboxing a null Integer throws NullPointerException.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count = 5;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boxed = count;                 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autoboxing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back = boxed;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unboxing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ids = 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ArrayList&lt;&gt;();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ids.add(101);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int -&gt; Integer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Convert UI / API text into numbers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cartText = driver.findElement(By.id(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"cart"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)).getText();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items = Integer.parseInt(cartText);          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"3" -&gt; 3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double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total = Double.parseDouble(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"249.99"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flag = Boolean.parseBoolean(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"true"</a:t>
            </a:r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code = String.valueOf(404);     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404 -&gt; "404"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System.out.println(Integer.MAX_VALUE); 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2147483647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a = 127, b = 127;</a:t>
            </a:r>
            <a:endParaRPr lang="en-US" sz="13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System.out.println(a.equals(b));       </a:t>
            </a:r>
            <a:pPr indent="0" marL="0">
              <a:lnSpc>
                <a:spcPct val="110000"/>
              </a:lnSpc>
              <a:buNone/>
            </a:pPr>
            <a:r>
              <a:rPr lang="en-US" sz="13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true: use equals()</a:t>
            </a:r>
            <a:endParaRPr lang="en-US" sz="13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Enums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fixed set of named constants, so no more "chrme" typos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special class with a fixed set of instances.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Type-safe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rejects values that do not exist.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Fields &amp; methods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can have constructors, fields and methods.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Enums work naturally with switch statements.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Browsers, environments, user roles, HTTP status codes.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Env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QA(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"https://qa.example.com"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STAGE(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"https://stage.example.com"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PROD(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"https://www.example.com"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url;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Env(String url) {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.url = url; 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getUrl() {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url; 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Env env = Env.valueOf(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"QA"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from config / CLI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driver.get(env.getUrl());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enum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Browser { CHROME, FIREFOX, EDGE 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switch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(Browser.valueOf(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"CHROME"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CHROME:  driver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ChromeDriver();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FIREFOX: driver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FirefoxDriver();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case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EDGE:    driver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EdgeDriver();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break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444752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4447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UTILITIES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Files &amp; Properties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configuration outside the code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Properties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key=value file for URL, browser, timeouts and credentials.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files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FileInputStream, BufferedReader or Files.readString().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try-with-resources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Streams are closed automatically, even on failure.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block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once when the class loads, a good place to load config.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environment or browser without recompiling.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src/test/resources/config.properties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baseUrl=https://reqres.in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browser=chrome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timeout=10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ConfigReader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Properties props =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Properties();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PATH =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"src/test/resources/config.properties"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{         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runs once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try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(FileInputStream fis =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FileInputStream(PATH))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props.load(fis);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catch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(IOException e)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throw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RuntimeException(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"Cannot load 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PATH, e);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get(String key)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props.getProperty(key);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url = ConfigReader.get(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"baseUrl"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7F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503920" y="-1463040"/>
            <a:ext cx="4754880" cy="47548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0" y="9144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244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04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Framework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Store, search and sort groups of objects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069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Hierarchy   •   List   •   Set   •   Map   •   Iterating   •   Sorting &amp; Comparator   •   Collections utility   •   Generics   •   Choosing the right one</a:t>
            </a:r>
            <a:endParaRPr lang="en-US" sz="14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Collections Framework Hierarchy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java.util: ready-made data structures that grow and shrink as needed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2926080" y="1874520"/>
            <a:ext cx="21031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926080" y="18745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Iterable&lt;E&gt;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2926080" y="2560320"/>
            <a:ext cx="210312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926080" y="2560320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Collection&lt;E&gt;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977640" y="2286000"/>
            <a:ext cx="914" cy="274320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977640" y="2971800"/>
            <a:ext cx="914" cy="182880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371600" y="3154680"/>
            <a:ext cx="493776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371600" y="3154680"/>
            <a:ext cx="914" cy="182880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57200" y="3337560"/>
            <a:ext cx="18288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7200" y="3337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List&lt;E&gt;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3840480" y="3154680"/>
            <a:ext cx="914" cy="182880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926080" y="3337560"/>
            <a:ext cx="18288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926080" y="3337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Set&lt;E&gt;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3154680"/>
            <a:ext cx="914" cy="182880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394960" y="3337560"/>
            <a:ext cx="18288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394960" y="3337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Queue&lt;E&gt;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9052560" y="3337560"/>
            <a:ext cx="1828800" cy="41148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052560" y="3337560"/>
            <a:ext cx="1828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Map&lt;K, V&gt;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9052560" y="2560320"/>
            <a:ext cx="2697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" i="1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hierarchy: key-value pairs, not a Collection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886968" y="402336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886968" y="40233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ArrayList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58368" y="421538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886968" y="45262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86968" y="45262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LinkedList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658368" y="47183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886968" y="502920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886968" y="50292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Vector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58368" y="522122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58368" y="3749040"/>
            <a:ext cx="914" cy="147218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355848" y="402336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3355848" y="40233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HashSet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3127248" y="421538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355848" y="45262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3355848" y="45262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LinkedHashSet</a:t>
            </a:r>
            <a:endParaRPr lang="en-US" sz="1200" dirty="0"/>
          </a:p>
        </p:txBody>
      </p:sp>
      <p:sp>
        <p:nvSpPr>
          <p:cNvPr id="42" name="Shape 40"/>
          <p:cNvSpPr/>
          <p:nvPr/>
        </p:nvSpPr>
        <p:spPr>
          <a:xfrm>
            <a:off x="3127248" y="47183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355848" y="502920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3355848" y="50292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TreeSet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3127248" y="522122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127248" y="3749040"/>
            <a:ext cx="914" cy="147218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24728" y="402336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5824728" y="40233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PriorityQueue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5596128" y="421538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5824728" y="45262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51" name="Text 49"/>
          <p:cNvSpPr txBox="1"/>
          <p:nvPr/>
        </p:nvSpPr>
        <p:spPr>
          <a:xfrm>
            <a:off x="5824728" y="45262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ArrayDeque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5596128" y="47183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96128" y="3749040"/>
            <a:ext cx="914" cy="96926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82328" y="402336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482328" y="402336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9253728" y="421538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9482328" y="452628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58" name="Text 56"/>
          <p:cNvSpPr txBox="1"/>
          <p:nvPr/>
        </p:nvSpPr>
        <p:spPr>
          <a:xfrm>
            <a:off x="9482328" y="452628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LinkedHashMap</a:t>
            </a:r>
            <a:endParaRPr lang="en-US" sz="1200" dirty="0"/>
          </a:p>
        </p:txBody>
      </p:sp>
      <p:sp>
        <p:nvSpPr>
          <p:cNvPr id="59" name="Shape 57"/>
          <p:cNvSpPr/>
          <p:nvPr/>
        </p:nvSpPr>
        <p:spPr>
          <a:xfrm>
            <a:off x="9253728" y="471830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482328" y="502920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1" name="Text 59"/>
          <p:cNvSpPr txBox="1"/>
          <p:nvPr/>
        </p:nvSpPr>
        <p:spPr>
          <a:xfrm>
            <a:off x="9482328" y="502920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9253728" y="522122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482328" y="5532120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64" name="Text 62"/>
          <p:cNvSpPr txBox="1"/>
          <p:nvPr/>
        </p:nvSpPr>
        <p:spPr>
          <a:xfrm>
            <a:off x="9482328" y="5532120"/>
            <a:ext cx="1874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Hashtable</a:t>
            </a:r>
            <a:endParaRPr lang="en-US" sz="1200" dirty="0"/>
          </a:p>
        </p:txBody>
      </p:sp>
      <p:sp>
        <p:nvSpPr>
          <p:cNvPr id="65" name="Shape 63"/>
          <p:cNvSpPr/>
          <p:nvPr/>
        </p:nvSpPr>
        <p:spPr>
          <a:xfrm>
            <a:off x="9253728" y="5724144"/>
            <a:ext cx="228600" cy="91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9253728" y="3749040"/>
            <a:ext cx="914" cy="1975104"/>
          </a:xfrm>
          <a:prstGeom prst="line">
            <a:avLst/>
          </a:prstGeom>
          <a:noFill/>
          <a:ln w="15875">
            <a:solidFill>
              <a:srgbClr val="8FA3B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052560" y="1874520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5875">
            <a:solidFill>
              <a:srgbClr val="21295C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052560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10378440" y="1874520"/>
            <a:ext cx="1188720" cy="365760"/>
          </a:xfrm>
          <a:prstGeom prst="roundRect">
            <a:avLst>
              <a:gd name="adj" fmla="val 15000"/>
            </a:avLst>
          </a:prstGeom>
          <a:solidFill>
            <a:srgbClr val="1C7293"/>
          </a:solidFill>
          <a:ln w="15875">
            <a:solidFill>
              <a:srgbClr val="1C7293"/>
            </a:solidFill>
            <a:prstDash val="solid"/>
          </a:ln>
        </p:spPr>
      </p:sp>
      <p:sp>
        <p:nvSpPr>
          <p:cNvPr id="70" name="Text 68"/>
          <p:cNvSpPr txBox="1"/>
          <p:nvPr/>
        </p:nvSpPr>
        <p:spPr>
          <a:xfrm>
            <a:off x="10378440" y="1874520"/>
            <a:ext cx="1188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200" dirty="0"/>
          </a:p>
        </p:txBody>
      </p:sp>
      <p:sp>
        <p:nvSpPr>
          <p:cNvPr id="71" name="Text 69"/>
          <p:cNvSpPr txBox="1"/>
          <p:nvPr/>
        </p:nvSpPr>
        <p:spPr>
          <a:xfrm>
            <a:off x="457200" y="56692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Program to the interface:  List&lt;String&gt; names = new ArrayList&lt;&gt;();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List: ArrayList &amp; LinkedList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Ordered, index-based and allows duplicates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insertion order, allows duplicates and nulls, access by index.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ArrayList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resizable array; fast get(i). The default choice.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LinkedList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doubly linked list; fast add/remove at the ends.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methods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add, get, set, remove, size, contains, indexOf, isEmpty, clear.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driver.findElements() returns List&lt;WebElement&gt;.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items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items.add(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"Laptop"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items.add(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"Mouse"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items.add(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"Laptop"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duplicates allowed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items.add(1,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"Keyboard"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insert at index 1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[Laptop, Keyboard, Mouse, Laptop]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items.get(0);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Laptop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items.set(2,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"Monitor"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replace Mouse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items.remove(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"Laptop"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removes the first match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items.size();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items.contains(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"Mouse"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false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items.indexOf(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"Monitor"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Selenium: print every link on the page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List&lt;WebElement&gt; links = driver.findElements(By.tagName(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"Total links: 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links.size());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(WebElement link : links)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System.out.println(link.getText());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2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Set: HashSet, LinkedHashSet &amp; TreeSet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elements only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duplicates; add() returns false if the value already exists.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HashSet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Fastest; order is not guaranteed.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LinkedHashSet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insertion order.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TreeSet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elements sorted; null is not allowed.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getWindowHandles() returns Set&lt;String&gt;; finding duplicate dropdown values.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Set&lt;String&gt; tags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HashSet&lt;&gt;();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tags.add(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"smoke"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tags.add(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"regression"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added = tags.add(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"smoke"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false: duplicate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System.out.println(tags.size());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Set&lt;Integer&gt; sorted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TreeSet&lt;&gt;(List.of(5, 1, 3));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System.out.println(sorted);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[1, 3, 5]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Selenium: switch to the newly opened tab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parent = driver.getWindowHandle();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Set&lt;String&gt; handles = driver.getWindowHandles();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(String h : handles)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(!h.equals(parent)) driver.switchTo().window(h);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Find duplicate options in a dropdown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Set&lt;String&gt; seen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HashSet&lt;&gt;();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(WebElement opt :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Select(dropdown).getOptions())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String text = opt.getText();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(!seen.add(text))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"Duplicate: 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text);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Map: HashMap, LinkedHashMap &amp; TreeMap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Key-value pairs, perfect for headers, JSON payloads and test data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keys map to values; values can repeat.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no guaranteed order, allows one null key.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LinkedHashMap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Keeps insertion order, handy for readable JSON payloads.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TreeMap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by key.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put, get, getOrDefault, containsKey, remove, keySet, values, entrySet.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Map&lt;String, String&gt; headers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HashMap&lt;&gt;();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headers.put(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"Content-Type"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"application/json"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headers.put(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"Bearer abc123"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headers.get(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"Content-Type"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application/json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headers.getOrDefault(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"Accept"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"*/*"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*/*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headers.containsKey(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"Authorization"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(Map.Entry&lt;String, String&gt; e : headers.entrySet()) {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System.out.println(e.getKey() +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 = 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e.getValue());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REST Assured: Map as headers and as the JSON body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Map&lt;String, Object&gt; body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LinkedHashMap&lt;&gt;();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body.put(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"John"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body.put(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"job"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"QA Engineer"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given().headers(headers).body(body)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.when().post(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"/api/users"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.then().statusCode(201);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Response JSON object -&gt; Map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Map&lt;String, Object&gt; user = response.jsonPath().getMap(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Iterating Collections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ways to loop, and one classic mistake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loop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only for Lists: list.get(i).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for-each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simplest read-only traversal.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Iterator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only safe way to remove elements while looping.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forEach + lambda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Concise Java 8 style, also available on Map.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Removing inside a for-each throws ConcurrentModificationException.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users =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ArrayList&lt;&gt;(List.of(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"john"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"jane"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"guest"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 = 0; i &lt; users.size(); i++) 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1. index loop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System.out.println(users.get(i));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(String u : users)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2. for-each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System.out.println(u);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Iterator&lt;String&gt; it = users.iterator();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3. Iterator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(it.hasNext())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(it.next().equals(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"guest"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it.remove();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 remove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users.forEach(u -&gt; System.out.println(u));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4. lambda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users.forEach(System.out::println);    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   method reference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Map&lt;String, Integer&gt; stock = Map.of(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"pen"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10,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"book"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4);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5. Map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stock.forEach((k, v) -&gt; System.out.println(k +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": 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v));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Wrong: ConcurrentModificationException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for (String u : users) users.remove(u);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users.removeIf(u -&gt; u.startsWith(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right way (Java 8)</a:t>
            </a:r>
            <a:endParaRPr lang="en-US" sz="10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Sorting: Collections, Comparable &amp; Comparator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that sorted tables and lists really are sorted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Utility class: sort, reverse, max, min, frequency, shuffle.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class defines its own natural order via compareTo().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Comparator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external, custom order; chain with thenComparing().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a column header, collect the values, compare with a sorted copy.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prices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ArrayList&lt;&gt;(List.of(499, 99, 250));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Collections.sort(prices);   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[99, 250, 499]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Collections.reverse(prices);      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[499, 250, 99]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max = Collections.max(prices);      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499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Comparator: custom order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names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ArrayList&lt;&gt;(List.of(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"zoe"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"Amy"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"bob"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names.sort(String.CASE_INSENSITIVE_ORDER);   </a:t>
            </a:r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[Amy, bob, zoe]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names.sort(Comparator.comparing(String::length)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.thenComparing(Comparator.reverseOrder()));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Verify a web table column is sorted A -&gt; Z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driver.findElement(By.id(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"sort-by-name"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)).click();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actual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List&lt;WebElement&gt; cells = driver.findElements(By.cssSelector(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"td.name"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(WebElement cell : cells) actual.add(cell.getText());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expected =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ArrayList&lt;&gt;(actual);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Collections.sort(expected);</a:t>
            </a:r>
            <a:endParaRPr lang="en-US" sz="11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Assert.assertEquals(actual, expected,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 column is not sorted"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Generics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safety at compile time, with no casting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parameter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&lt;T&gt; lets a class or method work with any type safely.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Compile-time checks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types are caught before the test ever runs.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 &lt;&gt;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compiler infers the type on the right-hand side.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Reuse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one generic method or class and use it for every type.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547725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49808" y="539496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Deserialize any API response: response.as(User.class).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Without generics: casting and runtime failures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 raw =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ArrayList();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raw.add(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 n = (Integer) raw.get(0); 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ClassCastException!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With generics: checked by the compiler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safe =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ArrayList&lt;&gt;();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safe.add(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"text"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safe.add(10);                      // compile error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Generic method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&lt;T&gt; T firstOrNull(List&lt;T&gt; list)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list.isEmpty() ?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: list.get(0);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String first = firstOrNull(List.of(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"b"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    </a:t>
            </a:r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"a"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Generic class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ApiResult&lt;T&gt; {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 data;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T getData() { 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data; 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REST Assured: JSON -&gt; any POJO type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User user = response.as(User.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66420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6642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Choosing the Right Collection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quick reference for the classes you will use most</a:t>
            </a:r>
            <a:endParaRPr lang="en-US" sz="150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11274552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2103120"/>
                <a:gridCol w="1554480"/>
                <a:gridCol w="1737360"/>
                <a:gridCol w="377647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Duplicates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Null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Best used for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1295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ArrayList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 lists, test data, API arrays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LinkedList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Frequent add/remove at the ends, queues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HashSet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values, window handles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LinkedHashSet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values in display order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TreeSet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unique values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HashMap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Keys: 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Headers, config, lookups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LinkedHashMap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Insertion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Keys: 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Ordered JSON payloads, reports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2A33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TreeMap</a:t>
                      </a:r>
                      <a:endParaRPr lang="en-US" sz="14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by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Keys: no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Sorted summaries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7F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8503920" y="-1463040"/>
            <a:ext cx="4754880" cy="47548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778240" y="91440"/>
            <a:ext cx="3291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0" b="1" dirty="0">
                <a:solidFill>
                  <a:srgbClr val="24496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0" dirty="0"/>
          </a:p>
        </p:txBody>
      </p:sp>
      <p:sp>
        <p:nvSpPr>
          <p:cNvPr id="6" name="Shape 4"/>
          <p:cNvSpPr/>
          <p:nvPr/>
        </p:nvSpPr>
        <p:spPr>
          <a:xfrm>
            <a:off x="457200" y="411480"/>
            <a:ext cx="1554480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57200" y="4114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05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2331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 8 &amp; Automation in Practice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Modern Java plus real GUI and API test code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" y="40690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Lambdas   •   Functional interfaces   •   Streams API   •   Selenium with Java   •   REST Assured with Java   •   Best practices   •   Interview questions   •   Practice exercises</a:t>
            </a:r>
            <a:endParaRPr lang="en-US" sz="14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8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Lambdas &amp; Functional Interfaces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 behaviour as a value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anonymous function: (params) -&gt; expression.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interface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exactly one abstract method: Runnable, Predicate, Function, Consumer, Supplier.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reference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shorthand for a lambda: System.out::println.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explicit waits in Selenium; filtering API data.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Before Java 8: anonymous class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Runnable r1 =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Runnable() {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run() {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"Running"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}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Java 8: lambda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Runnable r2 = () -&gt; System.out.println(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"Running"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Predicate&lt;Integer&gt; isSuccess = code -&gt; code &gt;= 200 &amp;&amp; code &lt; 300;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isSuccess.test(201);                           </a:t>
            </a:r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true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Function&lt;String, Integer&gt; len = s -&gt; s.length();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Consumer&lt;String&gt; log = System.out::println;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Supplier&lt;WebDriver&gt; chrome = ChromeDriver::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WebDriver driver = chrome.get();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Selenium explicit wait with a lambda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WebDriverWait(driver, Duration.ofSeconds(10))</a:t>
            </a:r>
            <a:endParaRPr lang="en-US" sz="12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.until(d -&gt; d.findElement(By.id(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"result"</a:t>
            </a:r>
            <a:pPr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)).isDisplayed());</a:t>
            </a:r>
            <a:endParaRPr lang="en-US" sz="12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115568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11556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JAVA 8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Streams API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transform and collect data in a readable pipeline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200253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49808" y="192024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pipeline over a collection; the source is not modified.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87121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49808" y="278892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Intermediate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map, sorted, distinct, limit (lazy).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373989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49808" y="365760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collect, toList, count, forEach, anyMatch, allMatch, findFirst.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608576"/>
            <a:ext cx="146304" cy="146304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749808" y="4526280"/>
            <a:ext cx="4069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automation — </a:t>
            </a:r>
            <a:pPr indent="0" marL="0">
              <a:buNone/>
            </a:pPr>
            <a:r>
              <a:rPr lang="en-US" sz="14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visible elements, extract texts, validate API lists in one line.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5074920" y="1828800"/>
            <a:ext cx="6656832" cy="4434840"/>
          </a:xfrm>
          <a:prstGeom prst="roundRect">
            <a:avLst>
              <a:gd name="adj" fmla="val 2062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330952" y="2084832"/>
            <a:ext cx="6144768" cy="3922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codes = List.of(200, 404, 201, 500, 200);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errors = codes.stream()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.filter(c -&gt; c &gt;= 400)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.collect(Collectors.toList());     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[404, 500]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long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ok = codes.stream().filter(c -&gt; c == 200).count(); 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2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List&lt;Integer&gt; unique = codes.stream()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.distinct().sorted().toList();   </a:t>
            </a:r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[200, 201, 404, 500]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Selenium: texts of all visible menu items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menu = driver.findElements(By.cssSelector(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".menu li"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.stream()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.filter(WebElement::isDisplayed)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.map(WebElement::getText)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.toList();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REST Assured: does any user have a reqres.in email?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List&lt;String&gt; emails = response.jsonPath().getList(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"data.email"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boolean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found = emails.stream()</a:t>
            </a:r>
            <a:endParaRPr lang="en-US" sz="11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.anyMatch(e -&gt; e.endsWith(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"@reqres.in"</a:t>
            </a:r>
            <a:pPr indent="0" marL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15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Together: Selenium (GUI)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Page Object and a test, built only from the concepts in this course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7818120" cy="4480560"/>
          </a:xfrm>
          <a:prstGeom prst="roundRect">
            <a:avLst>
              <a:gd name="adj" fmla="val 2041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2084832"/>
            <a:ext cx="7306056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LoginPage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WebDriver driver;              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encapsulation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 username = By.id(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"username"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 password = By.id(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"password"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 loginBtn = By.id(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"login"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By errors   = By.cssSelector(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".error"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LoginPage(WebDriver driver) {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this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.driver = driver; }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constructor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login(String user, String pass) {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reusable method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driver.findElement(username).sendKeys(user);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driver.findElement(password).sendKeys(pass);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driver.findElement(loginBtn).click();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List&lt;String&gt; getErrors() {            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 + stream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driver.findElements(errors).stream()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.map(WebElement::getText).toList();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LoginTest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extends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BaseTest {        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inheritance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invalidLoginShowsError()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LoginPage page =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LoginPage(driver);              </a:t>
            </a:r>
            <a:pPr indent="0" marL="0">
              <a:lnSpc>
                <a:spcPct val="100000"/>
              </a:lnSpc>
              <a:buNone/>
            </a:pPr>
            <a:r>
              <a:rPr lang="en-US" sz="100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object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page.login(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"admin"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"wrong"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Assert.assertTrue(page.getErrors().contains(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"Invalid credentials"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 concepts used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549640" y="2286000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0" y="2286000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&amp; object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LoginPage is created with new LoginPage(driver).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49640" y="3103474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0" y="3103474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Encapsulation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Locators are private final fields.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3920947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0" y="3920947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Constructor &amp; this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driver is injected and stored.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549640" y="4738421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0" y="4738421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Inheritance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LoginTest extends BaseTest for setup and teardown.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5555894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0" y="5555894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 &amp; streams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findElements → List → stream().map().</a:t>
            </a:r>
            <a:endParaRPr lang="en-US" sz="130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78638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78638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Putting It Together: REST Assured (API)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Java concepts applied to API tests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28800"/>
            <a:ext cx="7818120" cy="4480560"/>
          </a:xfrm>
          <a:prstGeom prst="roundRect">
            <a:avLst>
              <a:gd name="adj" fmla="val 2041"/>
            </a:avLst>
          </a:prstGeom>
          <a:solidFill>
            <a:srgbClr val="12263A"/>
          </a:solidFill>
          <a:ln/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13232" y="2084832"/>
            <a:ext cx="7306056" cy="3968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UserApiTest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private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static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final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String BASE_URI =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"https://reqres.in"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;   </a:t>
            </a:r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constant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@BeforeClass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setup() { RestAssured.baseURI = BASE_URI; }    </a:t>
            </a:r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static field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createUserReturns201()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Map&lt;String, Object&gt; body =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new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HashMap&lt;&gt;();            </a:t>
            </a:r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Map as JSON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body.put(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"name"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"John"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body.put(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"job"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"QA Engineer"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Response res = given().contentType(ContentType.JSON).body(body)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.when().post(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"/api/users"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.then().statusCode(201).extract().response();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String id = res.jsonPath().getString(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         </a:t>
            </a:r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String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Assert.assertNotNull(id,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"id should be generated"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C3A6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@Test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F4B86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void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allUsersHaveValidEmails() {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List&lt;String&gt; emails = given().when().get(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"/api/users?page=2"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.then().statusCode(200)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.extract().jsonPath().getList(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"data.email"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  </a:t>
            </a:r>
            <a:pPr indent="0" marL="0">
              <a:lnSpc>
                <a:spcPct val="100000"/>
              </a:lnSpc>
              <a:buNone/>
            </a:pPr>
            <a:r>
              <a:rPr lang="en-US" sz="1050" i="1" dirty="0">
                <a:solidFill>
                  <a:srgbClr val="6FD3C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List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Assert.assertTrue(emails.stream().allMatch(e -&gt; e.contains(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B5E4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"@"</a:t>
            </a:r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)));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5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50" dirty="0">
                <a:solidFill>
                  <a:srgbClr val="DCEFF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549640" y="18288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Java concepts used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8549640" y="2286000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686800" y="2286000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final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base URI is a class-level constant.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549640" y="3103474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686800" y="3103474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 becomes the JSON request body.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549640" y="3920947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86800" y="3920947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chaining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given().when().then() returns objects fluently.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8549640" y="4738421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8686800" y="4738421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&amp; generics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jsonPath().getList() returns List&lt;String&gt;.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8549640" y="5555894"/>
            <a:ext cx="3182112" cy="707746"/>
          </a:xfrm>
          <a:prstGeom prst="roundRect">
            <a:avLst>
              <a:gd name="adj" fmla="val 7752"/>
            </a:avLst>
          </a:prstGeom>
          <a:solidFill>
            <a:srgbClr val="EEF4F7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686800" y="5555894"/>
            <a:ext cx="2926080" cy="707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129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Lambdas &amp; streams</a:t>
            </a:r>
            <a:endParaRPr lang="en-US" sz="1300" dirty="0"/>
          </a:p>
          <a:p>
            <a:pPr indent="0" marL="0">
              <a:buNone/>
            </a:pPr>
            <a:r>
              <a:rPr lang="en-US" sz="11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allMatch() validates every email in one line.</a:t>
            </a:r>
            <a:endParaRPr lang="en-US" sz="1300" dirty="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33502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Best Practices for Automation Code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Habits that keep a framework readable and reliable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3605784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075688"/>
            <a:ext cx="2599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Naming conventions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97480"/>
            <a:ext cx="3148584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in PascalCase, methods and variables in camelCase, constants in UPPER_CASE.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291584" y="1874520"/>
            <a:ext cx="3605784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4520184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2018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114544" y="2075688"/>
            <a:ext cx="2599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equals(), not ==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4520184" y="2697480"/>
            <a:ext cx="3148584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Strings and wrapper objects by content with equals().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8125968" y="1874520"/>
            <a:ext cx="3605784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8354568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835456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948928" y="2075688"/>
            <a:ext cx="2599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 to interfaces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8354568" y="2697480"/>
            <a:ext cx="3148584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List&lt;String&gt; list = new ArrayList&lt;&gt;();  WebDriver driver = new ChromeDriver();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7200" y="4183380"/>
            <a:ext cx="3605784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24" name="Shape 22"/>
          <p:cNvSpPr/>
          <p:nvPr/>
        </p:nvSpPr>
        <p:spPr>
          <a:xfrm>
            <a:off x="685800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85800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1280160" y="4384548"/>
            <a:ext cx="2599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hard-coded waits</a:t>
            </a:r>
            <a:endParaRPr lang="en-US" sz="1600" dirty="0"/>
          </a:p>
        </p:txBody>
      </p:sp>
      <p:sp>
        <p:nvSpPr>
          <p:cNvPr id="27" name="Text 25"/>
          <p:cNvSpPr txBox="1"/>
          <p:nvPr/>
        </p:nvSpPr>
        <p:spPr>
          <a:xfrm>
            <a:off x="685800" y="5006340"/>
            <a:ext cx="3148584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Thread.sleep(); use WebDriverWait with expected conditions.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291584" y="4183380"/>
            <a:ext cx="3605784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29" name="Shape 27"/>
          <p:cNvSpPr/>
          <p:nvPr/>
        </p:nvSpPr>
        <p:spPr>
          <a:xfrm>
            <a:off x="4520184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520184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5114544" y="4384548"/>
            <a:ext cx="2599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Externalize config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4520184" y="5006340"/>
            <a:ext cx="3148584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URLs, browsers and credentials belong in properties files, not code.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125968" y="4183380"/>
            <a:ext cx="3605784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34" name="Shape 32"/>
          <p:cNvSpPr/>
          <p:nvPr/>
        </p:nvSpPr>
        <p:spPr>
          <a:xfrm>
            <a:off x="8354568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354568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8948928" y="4384548"/>
            <a:ext cx="259994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Handle exceptions properly</a:t>
            </a:r>
            <a:endParaRPr lang="en-US" sz="1600" dirty="0"/>
          </a:p>
        </p:txBody>
      </p:sp>
      <p:sp>
        <p:nvSpPr>
          <p:cNvPr id="37" name="Text 35"/>
          <p:cNvSpPr txBox="1"/>
          <p:nvPr/>
        </p:nvSpPr>
        <p:spPr>
          <a:xfrm>
            <a:off x="8354568" y="5006340"/>
            <a:ext cx="3148584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leave an empty catch; log clearly or rethrow a custom exception.</a:t>
            </a:r>
            <a:endParaRPr lang="en-US" sz="13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33502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Frequently Asked Interview Questions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questions every automation tester should be able to answer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720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 between == and equals()?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633472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5720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6334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vs StringBuilder vs StringBuffer?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457200" y="3346704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45720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97280" y="33467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is String immutable?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457200" y="4059936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5720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097280" y="40599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 overloading vs overriding?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457200" y="4773168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57200" y="4773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097280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Abstract class vs interface?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457200" y="548640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57200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5" name="Text 23"/>
          <p:cNvSpPr txBox="1"/>
          <p:nvPr/>
        </p:nvSpPr>
        <p:spPr>
          <a:xfrm>
            <a:off x="109728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vs finally vs finalize?</a:t>
            </a:r>
            <a:endParaRPr lang="en-US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1920240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217920" y="19202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858000" y="192024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vs unchecked exceptions?</a:t>
            </a:r>
            <a:endParaRPr lang="en-US" sz="1600" dirty="0"/>
          </a:p>
        </p:txBody>
      </p:sp>
      <p:sp>
        <p:nvSpPr>
          <p:cNvPr id="29" name="Shape 27"/>
          <p:cNvSpPr/>
          <p:nvPr/>
        </p:nvSpPr>
        <p:spPr>
          <a:xfrm>
            <a:off x="6217920" y="2633472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17920" y="26334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6858000" y="2633472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ArrayList vs LinkedList?</a:t>
            </a:r>
            <a:endParaRPr lang="en-US" sz="1600" dirty="0"/>
          </a:p>
        </p:txBody>
      </p:sp>
      <p:sp>
        <p:nvSpPr>
          <p:cNvPr id="32" name="Shape 30"/>
          <p:cNvSpPr/>
          <p:nvPr/>
        </p:nvSpPr>
        <p:spPr>
          <a:xfrm>
            <a:off x="6217920" y="3346704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17920" y="334670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34" name="Text 32"/>
          <p:cNvSpPr txBox="1"/>
          <p:nvPr/>
        </p:nvSpPr>
        <p:spPr>
          <a:xfrm>
            <a:off x="6858000" y="3346704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vs Set vs Map?</a:t>
            </a:r>
            <a:endParaRPr lang="en-US" sz="1600" dirty="0"/>
          </a:p>
        </p:txBody>
      </p:sp>
      <p:sp>
        <p:nvSpPr>
          <p:cNvPr id="35" name="Shape 33"/>
          <p:cNvSpPr/>
          <p:nvPr/>
        </p:nvSpPr>
        <p:spPr>
          <a:xfrm>
            <a:off x="6217920" y="4059936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217920" y="405993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37" name="Text 35"/>
          <p:cNvSpPr txBox="1"/>
          <p:nvPr/>
        </p:nvSpPr>
        <p:spPr>
          <a:xfrm>
            <a:off x="6858000" y="4059936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HashMap vs Hashtable vs ConcurrentHashMap?</a:t>
            </a:r>
            <a:endParaRPr lang="en-US" sz="1600" dirty="0"/>
          </a:p>
        </p:txBody>
      </p:sp>
      <p:sp>
        <p:nvSpPr>
          <p:cNvPr id="38" name="Shape 36"/>
          <p:cNvSpPr/>
          <p:nvPr/>
        </p:nvSpPr>
        <p:spPr>
          <a:xfrm>
            <a:off x="6217920" y="4773168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39" name="Text 37"/>
          <p:cNvSpPr txBox="1"/>
          <p:nvPr/>
        </p:nvSpPr>
        <p:spPr>
          <a:xfrm>
            <a:off x="6217920" y="47731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0" y="477316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does HashMap work internally?</a:t>
            </a:r>
            <a:endParaRPr lang="en-US" sz="1600" dirty="0"/>
          </a:p>
        </p:txBody>
      </p:sp>
      <p:sp>
        <p:nvSpPr>
          <p:cNvPr id="41" name="Shape 39"/>
          <p:cNvSpPr/>
          <p:nvPr/>
        </p:nvSpPr>
        <p:spPr>
          <a:xfrm>
            <a:off x="6217920" y="5486400"/>
            <a:ext cx="457200" cy="457200"/>
          </a:xfrm>
          <a:prstGeom prst="ellipse">
            <a:avLst/>
          </a:prstGeom>
          <a:solidFill>
            <a:srgbClr val="21295C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217920" y="5486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43" name="Text 41"/>
          <p:cNvSpPr txBox="1"/>
          <p:nvPr/>
        </p:nvSpPr>
        <p:spPr>
          <a:xfrm>
            <a:off x="6858000" y="5486400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B2A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Comparable vs Comparator?</a:t>
            </a:r>
            <a:endParaRPr lang="en-US" sz="16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8C99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411480"/>
            <a:ext cx="1335024" cy="384048"/>
          </a:xfrm>
          <a:prstGeom prst="roundRect">
            <a:avLst>
              <a:gd name="adj" fmla="val 19048"/>
            </a:avLst>
          </a:prstGeom>
          <a:solidFill>
            <a:srgbClr val="21295C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411480"/>
            <a:ext cx="133502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PRACTICE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896112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Practice Exercises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1417320"/>
            <a:ext cx="11247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Hands-on tasks to lock in each section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87452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9" name="Shape 7"/>
          <p:cNvSpPr/>
          <p:nvPr/>
        </p:nvSpPr>
        <p:spPr>
          <a:xfrm>
            <a:off x="685800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280160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Reverse &amp; palindrome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269748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a String without reverse() and check whether it is a palindrome.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332988" y="187452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14" name="Shape 12"/>
          <p:cNvSpPr/>
          <p:nvPr/>
        </p:nvSpPr>
        <p:spPr>
          <a:xfrm>
            <a:off x="3561588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3561588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155948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 characters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3561588" y="269748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 the occurrences of each character in a String using a HashMap.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08776" y="187452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19" name="Shape 17"/>
          <p:cNvSpPr/>
          <p:nvPr/>
        </p:nvSpPr>
        <p:spPr>
          <a:xfrm>
            <a:off x="6437376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37376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7031736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Remove duplicates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6437376" y="269748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duplicates from a List while keeping order (LinkedHashSet).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9084564" y="187452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24" name="Shape 22"/>
          <p:cNvSpPr/>
          <p:nvPr/>
        </p:nvSpPr>
        <p:spPr>
          <a:xfrm>
            <a:off x="9313164" y="210312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313164" y="2103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600" dirty="0"/>
          </a:p>
        </p:txBody>
      </p:sp>
      <p:sp>
        <p:nvSpPr>
          <p:cNvPr id="26" name="Text 24"/>
          <p:cNvSpPr txBox="1"/>
          <p:nvPr/>
        </p:nvSpPr>
        <p:spPr>
          <a:xfrm>
            <a:off x="9907524" y="207568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Second largest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9313164" y="269748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second largest number in an int array without sorting.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418338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29" name="Shape 27"/>
          <p:cNvSpPr/>
          <p:nvPr/>
        </p:nvSpPr>
        <p:spPr>
          <a:xfrm>
            <a:off x="685800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85800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600" dirty="0"/>
          </a:p>
        </p:txBody>
      </p:sp>
      <p:sp>
        <p:nvSpPr>
          <p:cNvPr id="31" name="Text 29"/>
          <p:cNvSpPr txBox="1"/>
          <p:nvPr/>
        </p:nvSpPr>
        <p:spPr>
          <a:xfrm>
            <a:off x="1280160" y="438454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BaseTest + Page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685800" y="500634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BaseTest and one Page Object for a login page using inheritance.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332988" y="418338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34" name="Shape 32"/>
          <p:cNvSpPr/>
          <p:nvPr/>
        </p:nvSpPr>
        <p:spPr>
          <a:xfrm>
            <a:off x="3561588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3561588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600" dirty="0"/>
          </a:p>
        </p:txBody>
      </p:sp>
      <p:sp>
        <p:nvSpPr>
          <p:cNvPr id="36" name="Text 34"/>
          <p:cNvSpPr txBox="1"/>
          <p:nvPr/>
        </p:nvSpPr>
        <p:spPr>
          <a:xfrm>
            <a:off x="4155948" y="438454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Config reader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3561588" y="500634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baseUrl and browser from config.properties and launch accordingly.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6208776" y="418338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39" name="Shape 37"/>
          <p:cNvSpPr/>
          <p:nvPr/>
        </p:nvSpPr>
        <p:spPr>
          <a:xfrm>
            <a:off x="6437376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437376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7031736" y="438454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Broken links</a:t>
            </a:r>
            <a:endParaRPr lang="en-US" sz="1500" dirty="0"/>
          </a:p>
        </p:txBody>
      </p:sp>
      <p:sp>
        <p:nvSpPr>
          <p:cNvPr id="42" name="Text 40"/>
          <p:cNvSpPr txBox="1"/>
          <p:nvPr/>
        </p:nvSpPr>
        <p:spPr>
          <a:xfrm>
            <a:off x="6437376" y="500634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 all links with findElements and report those returning ≥ 400.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9084564" y="4183380"/>
            <a:ext cx="2647188" cy="2080260"/>
          </a:xfrm>
          <a:prstGeom prst="roundRect">
            <a:avLst>
              <a:gd name="adj" fmla="val 3516"/>
            </a:avLst>
          </a:prstGeom>
          <a:solidFill>
            <a:srgbClr val="EEF4F7"/>
          </a:solidFill>
          <a:ln/>
        </p:spPr>
      </p:sp>
      <p:sp>
        <p:nvSpPr>
          <p:cNvPr id="44" name="Shape 42"/>
          <p:cNvSpPr/>
          <p:nvPr/>
        </p:nvSpPr>
        <p:spPr>
          <a:xfrm>
            <a:off x="9313164" y="4411980"/>
            <a:ext cx="457200" cy="457200"/>
          </a:xfrm>
          <a:prstGeom prst="ellipse">
            <a:avLst/>
          </a:prstGeom>
          <a:solidFill>
            <a:srgbClr val="1C7293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9313164" y="44119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600" dirty="0"/>
          </a:p>
        </p:txBody>
      </p:sp>
      <p:sp>
        <p:nvSpPr>
          <p:cNvPr id="46" name="Text 44"/>
          <p:cNvSpPr txBox="1"/>
          <p:nvPr/>
        </p:nvSpPr>
        <p:spPr>
          <a:xfrm>
            <a:off x="9907524" y="4384548"/>
            <a:ext cx="164134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1295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API + Streams</a:t>
            </a:r>
            <a:endParaRPr lang="en-US" sz="1500" dirty="0"/>
          </a:p>
        </p:txBody>
      </p:sp>
      <p:sp>
        <p:nvSpPr>
          <p:cNvPr id="47" name="Text 45"/>
          <p:cNvSpPr txBox="1"/>
          <p:nvPr/>
        </p:nvSpPr>
        <p:spPr>
          <a:xfrm>
            <a:off x="9313164" y="5006340"/>
            <a:ext cx="2189988" cy="1120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/api/users?page=2 and print the first names sorted alphabetically.</a:t>
            </a:r>
            <a:endParaRPr lang="en-US" sz="12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0B223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Java for Test Automation</a:t>
            </a:r>
            <a:endParaRPr lang="en-US" sz="900" dirty="0"/>
          </a:p>
        </p:txBody>
      </p:sp>
      <p:sp>
        <p:nvSpPr>
          <p:cNvPr id="3" name="Watermark"/>
          <p:cNvSpPr txBox="1"/>
          <p:nvPr/>
        </p:nvSpPr>
        <p:spPr>
          <a:xfrm>
            <a:off x="7619695" y="644652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i="1" dirty="0">
                <a:solidFill>
                  <a:srgbClr val="7F93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Subhendu Automation Trainer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9509760" y="-1463040"/>
            <a:ext cx="4572000" cy="457200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5" name="Shape 3"/>
          <p:cNvSpPr/>
          <p:nvPr/>
        </p:nvSpPr>
        <p:spPr>
          <a:xfrm>
            <a:off x="-1463040" y="4846320"/>
            <a:ext cx="3840480" cy="3840480"/>
          </a:xfrm>
          <a:prstGeom prst="ellipse">
            <a:avLst/>
          </a:prstGeom>
          <a:solidFill>
            <a:srgbClr val="16324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237744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2918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9FD8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  Write code every day. Concepts stick when you automate with them.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0233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4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TestNG  •  Maven  •  Selenium WebDriver  •  REST Assured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47</Slides>
  <Notes>47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Core Java for Test Automation</dc:title>
  <dc:subject>PptxGenJS Presentation</dc:subject>
  <dc:creator>Subhendu Automation Trainer</dc:creator>
  <cp:lastModifiedBy>Subhendu Automation Trainer</cp:lastModifiedBy>
  <cp:revision>1</cp:revision>
  <dcterms:created xsi:type="dcterms:W3CDTF">2026-09-27T02:43:42Z</dcterms:created>
  <dcterms:modified xsi:type="dcterms:W3CDTF">2026-09-27T02:43:42Z</dcterms:modified>
</cp:coreProperties>
</file>